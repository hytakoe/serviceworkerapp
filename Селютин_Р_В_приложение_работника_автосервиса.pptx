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821" r:id="rId1"/>
  </p:sldMasterIdLst>
  <p:notesMasterIdLst>
    <p:notesMasterId r:id="rId15"/>
  </p:notesMasterIdLst>
  <p:sldIdLst>
    <p:sldId id="257" r:id="rId2"/>
    <p:sldId id="270" r:id="rId3"/>
    <p:sldId id="258" r:id="rId4"/>
    <p:sldId id="268" r:id="rId5"/>
    <p:sldId id="269" r:id="rId6"/>
    <p:sldId id="259" r:id="rId7"/>
    <p:sldId id="260" r:id="rId8"/>
    <p:sldId id="267" r:id="rId9"/>
    <p:sldId id="263" r:id="rId10"/>
    <p:sldId id="262" r:id="rId11"/>
    <p:sldId id="261" r:id="rId12"/>
    <p:sldId id="265" r:id="rId13"/>
    <p:sldId id="266" r:id="rId14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Calibri Light" panose="020F0302020204030204" pitchFamily="34" charset="0"/>
      <p:regular r:id="rId20"/>
      <p:italic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асилий Ерохов" initials="ВЕ" lastIdx="1" clrIdx="0">
    <p:extLst>
      <p:ext uri="{19B8F6BF-5375-455C-9EA6-DF929625EA0E}">
        <p15:presenceInfo xmlns:p15="http://schemas.microsoft.com/office/powerpoint/2012/main" userId="48e187d55a52ef7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97A"/>
    <a:srgbClr val="3094FF"/>
    <a:srgbClr val="5DCDFF"/>
    <a:srgbClr val="0071BC"/>
    <a:srgbClr val="A0E5FE"/>
    <a:srgbClr val="8864FF"/>
    <a:srgbClr val="00AFFF"/>
    <a:srgbClr val="F98413"/>
    <a:srgbClr val="CC5BAB"/>
    <a:srgbClr val="905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44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06T18:16:26.164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D64DB-6921-4E89-BB57-DA51E8424924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9ED0C-BBFD-4690-9EF1-F32FDBA46F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246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5EDCF-7CA8-4C58-ACEA-39CC6DC7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29AB4F-347C-4CA1-97C8-C150EC4D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C97B1D-9635-4116-BDC6-23B5CCD03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05.06.2026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32772C-E514-49EF-9273-1B807F6F7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5D4832-A904-4435-A40A-A13A37DCD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7F1EDB7-6897-4ECF-89FB-79A8FE2F9B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t="5479" r="30931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31D9C8-705B-4ED5-B18E-1323E19A34D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00" y="0"/>
            <a:ext cx="2153465" cy="121132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CEC4B0C-0E3E-4FE5-956D-2FF9E4B865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</p:spPr>
      </p:pic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A27751F9-C002-4EE4-85FB-5F42654ADE1E}"/>
              </a:ext>
            </a:extLst>
          </p:cNvPr>
          <p:cNvSpPr/>
          <p:nvPr userDrawn="1"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62B9C9CD-7428-4EE5-A61E-423766AD8251}"/>
              </a:ext>
            </a:extLst>
          </p:cNvPr>
          <p:cNvSpPr/>
          <p:nvPr userDrawn="1"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A9933C11-CC32-49C8-A779-BD29524B0461}"/>
              </a:ext>
            </a:extLst>
          </p:cNvPr>
          <p:cNvSpPr/>
          <p:nvPr userDrawn="1"/>
        </p:nvSpPr>
        <p:spPr>
          <a:xfrm rot="13500000">
            <a:off x="4246229" y="1668722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51ED3EDA-3FC5-436A-9DBD-A2D2DC3BF1FD}"/>
              </a:ext>
            </a:extLst>
          </p:cNvPr>
          <p:cNvSpPr/>
          <p:nvPr userDrawn="1"/>
        </p:nvSpPr>
        <p:spPr>
          <a:xfrm rot="13500000">
            <a:off x="241646" y="5444620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ый треугольник 13">
            <a:extLst>
              <a:ext uri="{FF2B5EF4-FFF2-40B4-BE49-F238E27FC236}">
                <a16:creationId xmlns:a16="http://schemas.microsoft.com/office/drawing/2014/main" id="{AB413653-36FC-4A68-A44E-F616CE08A8D8}"/>
              </a:ext>
            </a:extLst>
          </p:cNvPr>
          <p:cNvSpPr/>
          <p:nvPr userDrawn="1"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5E8F08E4-7180-4DA6-BB5B-BFA6EB72CEFF}"/>
              </a:ext>
            </a:extLst>
          </p:cNvPr>
          <p:cNvSpPr/>
          <p:nvPr userDrawn="1"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: фигура 15">
            <a:extLst>
              <a:ext uri="{FF2B5EF4-FFF2-40B4-BE49-F238E27FC236}">
                <a16:creationId xmlns:a16="http://schemas.microsoft.com/office/drawing/2014/main" id="{45D1C3F3-0D5B-4E88-AB1F-59202B711960}"/>
              </a:ext>
            </a:extLst>
          </p:cNvPr>
          <p:cNvSpPr/>
          <p:nvPr userDrawn="1"/>
        </p:nvSpPr>
        <p:spPr>
          <a:xfrm>
            <a:off x="5853521" y="573125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2AA076A7-EFCF-4FC1-960B-C5EDEEBECAC4}"/>
              </a:ext>
            </a:extLst>
          </p:cNvPr>
          <p:cNvSpPr/>
          <p:nvPr userDrawn="1"/>
        </p:nvSpPr>
        <p:spPr>
          <a:xfrm>
            <a:off x="1130668" y="3065167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олилиния: фигура 17">
            <a:extLst>
              <a:ext uri="{FF2B5EF4-FFF2-40B4-BE49-F238E27FC236}">
                <a16:creationId xmlns:a16="http://schemas.microsoft.com/office/drawing/2014/main" id="{EDDCDB8E-2BBA-4956-A446-AB2DEC74A199}"/>
              </a:ext>
            </a:extLst>
          </p:cNvPr>
          <p:cNvSpPr/>
          <p:nvPr userDrawn="1"/>
        </p:nvSpPr>
        <p:spPr>
          <a:xfrm>
            <a:off x="3245400" y="1701670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BCD2FE7C-31A1-4887-AB3C-2C23D3A3FDAC}"/>
              </a:ext>
            </a:extLst>
          </p:cNvPr>
          <p:cNvSpPr/>
          <p:nvPr userDrawn="1"/>
        </p:nvSpPr>
        <p:spPr>
          <a:xfrm>
            <a:off x="1356679" y="5404154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Прямоугольный треугольник 19">
            <a:extLst>
              <a:ext uri="{FF2B5EF4-FFF2-40B4-BE49-F238E27FC236}">
                <a16:creationId xmlns:a16="http://schemas.microsoft.com/office/drawing/2014/main" id="{F6082C27-3AC2-428A-A497-90BACE44E466}"/>
              </a:ext>
            </a:extLst>
          </p:cNvPr>
          <p:cNvSpPr/>
          <p:nvPr userDrawn="1"/>
        </p:nvSpPr>
        <p:spPr>
          <a:xfrm rot="18900000">
            <a:off x="2386678" y="5706960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ый треугольник 20">
            <a:extLst>
              <a:ext uri="{FF2B5EF4-FFF2-40B4-BE49-F238E27FC236}">
                <a16:creationId xmlns:a16="http://schemas.microsoft.com/office/drawing/2014/main" id="{B9B693CA-BF78-4F61-AB67-B5EC52004205}"/>
              </a:ext>
            </a:extLst>
          </p:cNvPr>
          <p:cNvSpPr/>
          <p:nvPr userDrawn="1"/>
        </p:nvSpPr>
        <p:spPr>
          <a:xfrm rot="18900000">
            <a:off x="4710131" y="5536795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EB1DCB1A-D9EC-4A15-B4E7-DBEBA751B763}"/>
              </a:ext>
            </a:extLst>
          </p:cNvPr>
          <p:cNvSpPr/>
          <p:nvPr userDrawn="1"/>
        </p:nvSpPr>
        <p:spPr>
          <a:xfrm rot="18900000">
            <a:off x="7686638" y="5679449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7F21F447-46C5-47F0-BA9E-81C0621A9C53}"/>
              </a:ext>
            </a:extLst>
          </p:cNvPr>
          <p:cNvSpPr/>
          <p:nvPr userDrawn="1"/>
        </p:nvSpPr>
        <p:spPr>
          <a:xfrm rot="18900000">
            <a:off x="11138348" y="5702654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ABA8D453-FDA5-4094-9F75-4B30B46F5ACB}"/>
              </a:ext>
            </a:extLst>
          </p:cNvPr>
          <p:cNvSpPr/>
          <p:nvPr userDrawn="1"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0B604F1F-45B7-42A9-8B41-C282E3CC651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69629" y="404261"/>
            <a:ext cx="1276295" cy="19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41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7E68BC-2656-43D9-9E66-0A4D7B68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A0988E-DAB0-45BD-A53E-D669D6591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8FAB8D-BE40-4462-B093-B197EC3D5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3C9573-ABC4-4E35-9B78-33FCCBCAC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A590C7-1EB8-459A-9226-0F21B869F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837346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44858C-8F24-4D1C-910B-B7EA9E548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415D8A-0C41-4E0B-9307-2FD9CA666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DA1F90-40E6-471C-A0CD-5D59CC0A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123288-2980-4244-A841-4A8255850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926F8-6C40-41D6-9C7C-356426EEF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991035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2D1820-440A-424C-B107-EF03949BB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2E2C5B-7EAE-4834-8589-EC0A5A093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55E1448-CA06-4FAF-A7CF-F2DAAA774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647FAC-FEF3-4FED-82C1-421B2BA24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606A79B-4D39-476B-B3EB-2E8264D74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02B515E-8EE5-4344-A4EC-0A029C17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147390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06DEB8-2693-449A-B8C6-39F84A2C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B46AF5-FD29-4D94-B259-3FE92B80C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EE3918-7E65-4B70-907D-91F60A6F2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EF59C41-56CE-46BF-9C42-9FC9B394B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2D1714-864B-4BA7-9911-65CA3D1D39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4B56944-5DCE-436B-8E02-BB6EFE4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0191963-8699-4286-9F93-53F6F68D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9BA7B95-1E0B-4770-9F9F-AE41687C7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2201774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2AAB3C-9B95-4F4C-A9D7-469FBD36F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AB59DC-A00F-4C4C-B963-6A131705D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4074C53-B4F9-46E6-89D2-58E3FAA99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6D27C9D-D85B-4FF8-A357-EEB127BEC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7637149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746C484-B131-4340-B6C8-FDA2EE23C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DD0F069-5D41-489B-8792-FB7D796B8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ADC69C-9DC5-4A56-B518-59F42B36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3802940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23418B-08AE-4C03-8A6C-4B47B815E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BB5AA7-6442-4F5E-AD12-53D394E72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161D094-E3BD-48FF-89DF-FE4E09DC1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961FF4-CBD2-42D0-BC57-7138D4591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CEF6BD-4DE7-46DA-AC41-1C3F792A4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6D8698A-2529-42D9-8F46-564578997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815197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62E624-B176-471B-8D0C-CDB13DAEF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4DA912F-31B4-41DA-9098-59F53907A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53A505D-6F1A-4A48-98ED-7C369510F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F837A2-5885-410D-8690-F4B524325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83E0A6-513B-4911-8C36-078B94C72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4A449E-BC73-45B7-B676-817A1E7F5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0878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7EDBA-62E8-4033-9BBE-E2C9D8BFA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6FFF0E8-7C89-4960-AC3C-D829B8C2A0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0AA3C9-B3AF-436B-90C2-9057993D8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98C30-4D13-40EC-BAE7-F3939732C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B566FA-B34A-4593-A97C-A846B200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583953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60F53F4-5118-4843-BBA8-207E11DC69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2E06AD9-5825-4094-AE9F-3E4AA2DE2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92993F-8633-410B-A654-121A23E09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EEAD3A-F875-4594-B116-7A2EC5445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DC2A3E-B498-4774-8F6D-4E2F81FBF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7115856"/>
      </p:ext>
    </p:extLst>
  </p:cSld>
  <p:clrMapOvr>
    <a:masterClrMapping/>
  </p:clrMapOvr>
  <p:hf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Инфо Слайд">
    <p:bg>
      <p:bgPr>
        <a:gradFill>
          <a:gsLst>
            <a:gs pos="0">
              <a:schemeClr val="bg1"/>
            </a:gs>
            <a:gs pos="38000">
              <a:srgbClr val="5DCDFF"/>
            </a:gs>
            <a:gs pos="64000">
              <a:srgbClr val="8C62FF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865ADE-93B5-4588-8305-48B2BEC2FEEA}"/>
              </a:ext>
            </a:extLst>
          </p:cNvPr>
          <p:cNvSpPr/>
          <p:nvPr userDrawn="1"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бъект 2">
            <a:extLst>
              <a:ext uri="{FF2B5EF4-FFF2-40B4-BE49-F238E27FC236}">
                <a16:creationId xmlns:a16="http://schemas.microsoft.com/office/drawing/2014/main" id="{0CF99737-AECE-4F14-89EE-B6B6EB94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10515600" cy="4974147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497A"/>
                </a:solidFill>
              </a:defRPr>
            </a:lvl1pPr>
            <a:lvl2pPr>
              <a:defRPr sz="1600">
                <a:solidFill>
                  <a:srgbClr val="00497A"/>
                </a:solidFill>
              </a:defRPr>
            </a:lvl2pPr>
            <a:lvl3pPr>
              <a:defRPr sz="1400">
                <a:solidFill>
                  <a:srgbClr val="00497A"/>
                </a:solidFill>
              </a:defRPr>
            </a:lvl3pPr>
            <a:lvl4pPr>
              <a:defRPr sz="1200">
                <a:solidFill>
                  <a:srgbClr val="00497A"/>
                </a:solidFill>
              </a:defRPr>
            </a:lvl4pPr>
            <a:lvl5pPr>
              <a:defRPr sz="1200">
                <a:solidFill>
                  <a:srgbClr val="00497A"/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 err="1"/>
              <a:t>Четвертый</a:t>
            </a:r>
            <a:r>
              <a:rPr lang="ru-RU" dirty="0"/>
              <a:t>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112B0F4B-37E6-4319-8F4B-24D1060A079B}" type="datetime1">
              <a:rPr lang="ru-RU" smtClean="0"/>
              <a:pPr/>
              <a:t>05.06.2026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8005A1-155B-4DB1-875C-2838BFF3D9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78" y="230091"/>
            <a:ext cx="1565600" cy="880650"/>
          </a:xfrm>
          <a:prstGeom prst="rect">
            <a:avLst/>
          </a:prstGeom>
        </p:spPr>
      </p:pic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CFBF183B-B98F-497F-9D31-BA26CF15B95F}"/>
              </a:ext>
            </a:extLst>
          </p:cNvPr>
          <p:cNvSpPr/>
          <p:nvPr userDrawn="1"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789CF102-F384-4159-BBA3-C403C20908A9}"/>
              </a:ext>
            </a:extLst>
          </p:cNvPr>
          <p:cNvSpPr/>
          <p:nvPr userDrawn="1"/>
        </p:nvSpPr>
        <p:spPr>
          <a:xfrm rot="13500000">
            <a:off x="247432" y="1848548"/>
            <a:ext cx="390872" cy="38703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ый треугольник 15">
            <a:extLst>
              <a:ext uri="{FF2B5EF4-FFF2-40B4-BE49-F238E27FC236}">
                <a16:creationId xmlns:a16="http://schemas.microsoft.com/office/drawing/2014/main" id="{AF8265A1-CAD2-4652-B16C-F2E19FD81F2F}"/>
              </a:ext>
            </a:extLst>
          </p:cNvPr>
          <p:cNvSpPr/>
          <p:nvPr userDrawn="1"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ый треугольник 16">
            <a:extLst>
              <a:ext uri="{FF2B5EF4-FFF2-40B4-BE49-F238E27FC236}">
                <a16:creationId xmlns:a16="http://schemas.microsoft.com/office/drawing/2014/main" id="{9B0330C4-C5DD-4328-9BC7-57E1A77F6C10}"/>
              </a:ext>
            </a:extLst>
          </p:cNvPr>
          <p:cNvSpPr/>
          <p:nvPr userDrawn="1"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6C65F344-A574-4F02-91D3-07FC6E5B5033}"/>
              </a:ext>
            </a:extLst>
          </p:cNvPr>
          <p:cNvSpPr/>
          <p:nvPr userDrawn="1"/>
        </p:nvSpPr>
        <p:spPr>
          <a:xfrm rot="18900000">
            <a:off x="640728" y="5962466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7B33F8A4-D60D-488E-81ED-86A3FE6D62E8}"/>
              </a:ext>
            </a:extLst>
          </p:cNvPr>
          <p:cNvSpPr/>
          <p:nvPr userDrawn="1"/>
        </p:nvSpPr>
        <p:spPr>
          <a:xfrm rot="18900000">
            <a:off x="3552592" y="6019366"/>
            <a:ext cx="276113" cy="273399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C4E599F6-5CBC-4551-BD6C-077F23AF3941}"/>
              </a:ext>
            </a:extLst>
          </p:cNvPr>
          <p:cNvSpPr/>
          <p:nvPr userDrawn="1"/>
        </p:nvSpPr>
        <p:spPr>
          <a:xfrm rot="18900000">
            <a:off x="8198253" y="6158127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ый треугольник 24">
            <a:extLst>
              <a:ext uri="{FF2B5EF4-FFF2-40B4-BE49-F238E27FC236}">
                <a16:creationId xmlns:a16="http://schemas.microsoft.com/office/drawing/2014/main" id="{11E09F5D-4D01-4972-9F22-02A0248FF409}"/>
              </a:ext>
            </a:extLst>
          </p:cNvPr>
          <p:cNvSpPr/>
          <p:nvPr userDrawn="1"/>
        </p:nvSpPr>
        <p:spPr>
          <a:xfrm rot="18900000">
            <a:off x="11492079" y="6292570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345522D5-2C20-4CF3-A8DA-DDA51379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</p:spPr>
        <p:txBody>
          <a:bodyPr/>
          <a:lstStyle>
            <a:lvl1pPr>
              <a:lnSpc>
                <a:spcPct val="70000"/>
              </a:lnSpc>
              <a:defRPr>
                <a:solidFill>
                  <a:srgbClr val="00497A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76A972D-CF22-4B4A-AF0A-F6DC4391B49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9130354" y="598091"/>
            <a:ext cx="1272875" cy="19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333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D7B72B-7075-4F0D-B73B-F120ED80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6256D06-0883-4287-A396-D1C9D918F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9D9731-71AA-46AF-9D0E-22E3CC075E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B0392-6652-4E63-9185-19FE4105AD5C}" type="datetime1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683C65-9B9B-4389-B813-8464DDB0B1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60627D-2C17-430A-8D8C-60A5672EA4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752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comments" Target="../comments/commen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A13D635-6BF1-4764-86FF-0A9663CDEE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93222" y="1986450"/>
            <a:ext cx="5833281" cy="2227482"/>
          </a:xfrm>
        </p:spPr>
        <p:txBody>
          <a:bodyPr>
            <a:normAutofit/>
          </a:bodyPr>
          <a:lstStyle/>
          <a:p>
            <a:endParaRPr lang="ru-RU" sz="5400" dirty="0">
              <a:solidFill>
                <a:schemeClr val="tx1"/>
              </a:solidFill>
            </a:endParaRP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B9D88EB6-1ACB-4054-871A-5CA5A2A460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21B821-5910-4401-BDB1-D24135D73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</a:t>
            </a:fld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9004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Рынок автосервисов в России активно растёт. Количество автомобилей увеличивается, возрастает и потребность в их обслуживании и ремонте. При этом многие автосервисы до сих пор работают «по старинке» — используют бумажные журналы, Excel-таблицы или разрозненные заметки.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199AD9-ACD2-4DBE-B486-CF50CF360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05.06.2026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2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241937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Цель проекта – разработка мобильного приложения с чистой архитектурой для автоматизации работы автосервиса на платформе </a:t>
            </a:r>
            <a:r>
              <a:rPr lang="ru-RU" sz="2800" dirty="0" err="1">
                <a:solidFill>
                  <a:schemeClr val="tx1"/>
                </a:solidFill>
              </a:rPr>
              <a:t>Android</a:t>
            </a:r>
            <a:r>
              <a:rPr lang="ru-RU" sz="2800" dirty="0">
                <a:solidFill>
                  <a:schemeClr val="tx1"/>
                </a:solidFill>
              </a:rPr>
              <a:t>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Функциональные возможности: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Регистрация и вход для сотрудников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Просмотр списка текущих задач (ремонтов)</a:t>
            </a:r>
          </a:p>
          <a:p>
            <a:pPr marL="0" indent="444500" algn="just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3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Постановка задачи</a:t>
            </a:r>
          </a:p>
        </p:txBody>
      </p:sp>
    </p:spTree>
    <p:extLst>
      <p:ext uri="{BB962C8B-B14F-4D97-AF65-F5344CB8AC3E}">
        <p14:creationId xmlns:p14="http://schemas.microsoft.com/office/powerpoint/2010/main" val="3420941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839344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1С: Автодилер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4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Обзор аналогов</a:t>
            </a:r>
          </a:p>
        </p:txBody>
      </p:sp>
      <p:pic>
        <p:nvPicPr>
          <p:cNvPr id="6" name="Рисунок 5" descr="Заказ-наряд в 1С УНФ - инструкции по работе с 1С от Деловых решений">
            <a:extLst>
              <a:ext uri="{FF2B5EF4-FFF2-40B4-BE49-F238E27FC236}">
                <a16:creationId xmlns:a16="http://schemas.microsoft.com/office/drawing/2014/main" id="{CCA916C9-2B7B-435E-BD75-D098A04458F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7018" y="1537061"/>
            <a:ext cx="9337963" cy="48690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9627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839344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cs typeface="Times New Roman"/>
              </a:rPr>
              <a:t>VINDESK 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5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Обзор аналогов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FDA3D44-9E4E-454D-9774-EE4299F6E39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0715" y="1493380"/>
            <a:ext cx="9914604" cy="486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83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Язык программирования: </a:t>
            </a: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Kotlin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 — статически типизированный объектно-ориентированный язык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  <a:p>
            <a:pPr marL="0" indent="444500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</a:rPr>
              <a:t>Среда разработки: </a:t>
            </a:r>
            <a:r>
              <a:rPr lang="ru-RU" sz="2800" dirty="0" err="1">
                <a:solidFill>
                  <a:schemeClr val="tx1"/>
                </a:solidFill>
              </a:rPr>
              <a:t>Android</a:t>
            </a:r>
            <a:r>
              <a:rPr lang="ru-RU" sz="2800" dirty="0">
                <a:solidFill>
                  <a:schemeClr val="tx1"/>
                </a:solidFill>
              </a:rPr>
              <a:t> Studio — интегрированная среда для создания </a:t>
            </a:r>
            <a:r>
              <a:rPr lang="ru-RU" sz="2800" dirty="0" err="1">
                <a:solidFill>
                  <a:schemeClr val="tx1"/>
                </a:solidFill>
              </a:rPr>
              <a:t>Android</a:t>
            </a:r>
            <a:r>
              <a:rPr lang="ru-RU" sz="2800" dirty="0">
                <a:solidFill>
                  <a:schemeClr val="tx1"/>
                </a:solidFill>
              </a:rPr>
              <a:t>-приложений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444500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База данных: 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PostgreSQL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через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Supabase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(REST API)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lvl="0" indent="0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6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Средства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74258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1626"/>
            <a:ext cx="10515599" cy="4743948"/>
          </a:xfrm>
        </p:spPr>
        <p:txBody>
          <a:bodyPr>
            <a:no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Был использован архитектурный паттерн </a:t>
            </a:r>
            <a:r>
              <a:rPr lang="en-US" sz="2800" dirty="0">
                <a:solidFill>
                  <a:schemeClr val="tx1"/>
                </a:solidFill>
              </a:rPr>
              <a:t>MVVM (Model-View-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r>
              <a:rPr lang="ru-RU" sz="2800" dirty="0">
                <a:solidFill>
                  <a:schemeClr val="tx1"/>
                </a:solidFill>
              </a:rPr>
              <a:t>, разделяющий приложение на три слоя: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Model</a:t>
            </a:r>
            <a:r>
              <a:rPr lang="ru-RU" sz="2800" dirty="0">
                <a:solidFill>
                  <a:schemeClr val="tx1"/>
                </a:solidFill>
              </a:rPr>
              <a:t> — данные и бизнес-логика.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 — UI (</a:t>
            </a:r>
            <a:r>
              <a:rPr lang="ru-RU" sz="2800" dirty="0" err="1">
                <a:solidFill>
                  <a:schemeClr val="tx1"/>
                </a:solidFill>
              </a:rPr>
              <a:t>Activity</a:t>
            </a:r>
            <a:r>
              <a:rPr lang="ru-RU" sz="2800" dirty="0">
                <a:solidFill>
                  <a:schemeClr val="tx1"/>
                </a:solidFill>
              </a:rPr>
              <a:t>/</a:t>
            </a:r>
            <a:r>
              <a:rPr lang="ru-RU" sz="2800" dirty="0" err="1">
                <a:solidFill>
                  <a:schemeClr val="tx1"/>
                </a:solidFill>
              </a:rPr>
              <a:t>Fragment</a:t>
            </a:r>
            <a:r>
              <a:rPr lang="ru-RU" sz="2800" dirty="0">
                <a:solidFill>
                  <a:schemeClr val="tx1"/>
                </a:solidFill>
              </a:rPr>
              <a:t>).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ViewModel</a:t>
            </a:r>
            <a:r>
              <a:rPr lang="ru-RU" sz="2800" dirty="0">
                <a:solidFill>
                  <a:schemeClr val="tx1"/>
                </a:solidFill>
              </a:rPr>
              <a:t> — связующее звено, хранит состояние экрана, обрабатывает события </a:t>
            </a:r>
            <a:r>
              <a:rPr lang="ru-RU" sz="2800" dirty="0" err="1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 и взаимодействует с </a:t>
            </a:r>
            <a:r>
              <a:rPr lang="ru-RU" sz="2800" dirty="0" err="1">
                <a:solidFill>
                  <a:schemeClr val="tx1"/>
                </a:solidFill>
              </a:rPr>
              <a:t>Model</a:t>
            </a:r>
            <a:r>
              <a:rPr lang="ru-RU" sz="2800" dirty="0">
                <a:solidFill>
                  <a:schemeClr val="tx1"/>
                </a:solidFill>
              </a:rPr>
              <a:t> через потоки данных (</a:t>
            </a:r>
            <a:r>
              <a:rPr lang="ru-RU" sz="2800" dirty="0" err="1">
                <a:solidFill>
                  <a:schemeClr val="tx1"/>
                </a:solidFill>
              </a:rPr>
              <a:t>LiveData</a:t>
            </a:r>
            <a:r>
              <a:rPr lang="ru-RU" sz="2800" dirty="0">
                <a:solidFill>
                  <a:schemeClr val="tx1"/>
                </a:solidFill>
              </a:rPr>
              <a:t>/</a:t>
            </a:r>
            <a:r>
              <a:rPr lang="ru-RU" sz="2800" dirty="0" err="1">
                <a:solidFill>
                  <a:schemeClr val="tx1"/>
                </a:solidFill>
              </a:rPr>
              <a:t>StateFlow</a:t>
            </a:r>
            <a:r>
              <a:rPr lang="ru-RU" sz="2800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7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Архитектура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994458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Преимущества данного паттерна: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>
                <a:solidFill>
                  <a:schemeClr val="tx1"/>
                </a:solidFill>
              </a:rPr>
              <a:t>Чёткое разделение ответственности.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>
                <a:solidFill>
                  <a:schemeClr val="tx1"/>
                </a:solidFill>
              </a:rPr>
              <a:t>Тестируемость.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>
                <a:solidFill>
                  <a:schemeClr val="tx1"/>
                </a:solidFill>
              </a:rPr>
              <a:t>Устойчивость к изменениям конфигурации.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>
                <a:solidFill>
                  <a:schemeClr val="tx1"/>
                </a:solidFill>
              </a:rPr>
              <a:t>Реактивность — автоматическое обновление UI при изменении данных (</a:t>
            </a:r>
            <a:r>
              <a:rPr lang="ru-RU" sz="2800" dirty="0" err="1">
                <a:solidFill>
                  <a:schemeClr val="tx1"/>
                </a:solidFill>
              </a:rPr>
              <a:t>LiveData</a:t>
            </a:r>
            <a:r>
              <a:rPr lang="ru-RU" sz="2800" dirty="0">
                <a:solidFill>
                  <a:schemeClr val="tx1"/>
                </a:solidFill>
              </a:rPr>
              <a:t>/</a:t>
            </a:r>
            <a:r>
              <a:rPr lang="ru-RU" sz="2800" dirty="0" err="1">
                <a:solidFill>
                  <a:schemeClr val="tx1"/>
                </a:solidFill>
              </a:rPr>
              <a:t>StateFlow</a:t>
            </a:r>
            <a:r>
              <a:rPr lang="ru-RU" sz="2800" dirty="0">
                <a:solidFill>
                  <a:schemeClr val="tx1"/>
                </a:solidFill>
              </a:rPr>
              <a:t>).</a:t>
            </a:r>
          </a:p>
          <a:p>
            <a:pPr marL="0" indent="444500" algn="just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8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Архитектура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3230899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5528417" cy="4743948"/>
          </a:xfrm>
        </p:spPr>
        <p:txBody>
          <a:bodyPr>
            <a:normAutofit/>
          </a:bodyPr>
          <a:lstStyle/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 отвечает за отображение данных, полученных из 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, </a:t>
            </a:r>
            <a:r>
              <a:rPr lang="ru-RU" sz="2800" dirty="0">
                <a:solidFill>
                  <a:schemeClr val="tx1"/>
                </a:solidFill>
              </a:rPr>
              <a:t>обработку пользовательских действий и отображение состояний.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</a:rPr>
              <a:t>Основные компоненты: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Активности: входа, регистрации и главная.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Фрагменты: список задач, настройки.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444500" algn="just"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9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>
                <a:solidFill>
                  <a:schemeClr val="tx1"/>
                </a:solidFill>
              </a:rPr>
              <a:t>View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75BFC8-F7B6-41CF-A249-938FB21880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31" b="4531"/>
          <a:stretch/>
        </p:blipFill>
        <p:spPr>
          <a:xfrm>
            <a:off x="6735953" y="1572428"/>
            <a:ext cx="1994288" cy="40301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BABD52-1812-4105-A3C3-8D432F8209D4}"/>
              </a:ext>
            </a:extLst>
          </p:cNvPr>
          <p:cNvSpPr txBox="1"/>
          <p:nvPr/>
        </p:nvSpPr>
        <p:spPr>
          <a:xfrm>
            <a:off x="6990001" y="5602556"/>
            <a:ext cx="1486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Активность регистрации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09C4FC-874C-4ACB-AA40-321A3AB81BB1}"/>
              </a:ext>
            </a:extLst>
          </p:cNvPr>
          <p:cNvSpPr txBox="1"/>
          <p:nvPr/>
        </p:nvSpPr>
        <p:spPr>
          <a:xfrm>
            <a:off x="9910795" y="5602556"/>
            <a:ext cx="1486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Главная активность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D8AEF4-BE5A-416A-BE6E-AA04962EAB2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84898" y="2241750"/>
            <a:ext cx="2737986" cy="319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86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 lnSpcReduction="10000"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ru-RU" sz="2800" dirty="0">
                <a:solidFill>
                  <a:schemeClr val="tx1"/>
                </a:solidFill>
              </a:rPr>
              <a:t>отвечает за подготовку данных для UI и обработку пользовательских действий.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Основные компоненты: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altLang="ru-RU" sz="2800" dirty="0" err="1">
                <a:solidFill>
                  <a:schemeClr val="tx1"/>
                </a:solidFill>
              </a:rPr>
              <a:t>UiState</a:t>
            </a:r>
            <a:r>
              <a:rPr lang="ru-RU" altLang="ru-RU" sz="2800" dirty="0">
                <a:solidFill>
                  <a:schemeClr val="tx1"/>
                </a:solidFill>
              </a:rPr>
              <a:t> — </a:t>
            </a:r>
            <a:r>
              <a:rPr lang="ru-RU" altLang="ru-RU" sz="2800" dirty="0" err="1">
                <a:solidFill>
                  <a:schemeClr val="tx1"/>
                </a:solidFill>
              </a:rPr>
              <a:t>data</a:t>
            </a:r>
            <a:r>
              <a:rPr lang="ru-RU" altLang="ru-RU" sz="2800" dirty="0">
                <a:solidFill>
                  <a:schemeClr val="tx1"/>
                </a:solidFill>
              </a:rPr>
              <a:t> </a:t>
            </a:r>
            <a:r>
              <a:rPr lang="ru-RU" altLang="ru-RU" sz="2800" dirty="0" err="1">
                <a:solidFill>
                  <a:schemeClr val="tx1"/>
                </a:solidFill>
              </a:rPr>
              <a:t>class</a:t>
            </a:r>
            <a:r>
              <a:rPr lang="ru-RU" altLang="ru-RU" sz="2800" dirty="0">
                <a:solidFill>
                  <a:schemeClr val="tx1"/>
                </a:solidFill>
              </a:rPr>
              <a:t>, содержащий всё состояние экрана. Хранится в </a:t>
            </a:r>
            <a:r>
              <a:rPr lang="ru-RU" altLang="ru-RU" sz="2800" dirty="0" err="1">
                <a:solidFill>
                  <a:schemeClr val="tx1"/>
                </a:solidFill>
              </a:rPr>
              <a:t>LiveData</a:t>
            </a:r>
            <a:r>
              <a:rPr lang="ru-RU" altLang="ru-RU" sz="2800" dirty="0">
                <a:solidFill>
                  <a:schemeClr val="tx1"/>
                </a:solidFill>
              </a:rPr>
              <a:t> для автоматического обновления UI.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Use</a:t>
            </a:r>
            <a:r>
              <a:rPr lang="ru-RU" sz="2800" dirty="0">
                <a:solidFill>
                  <a:schemeClr val="tx1"/>
                </a:solidFill>
              </a:rPr>
              <a:t> </a:t>
            </a:r>
            <a:r>
              <a:rPr lang="ru-RU" sz="2800" dirty="0" err="1">
                <a:solidFill>
                  <a:schemeClr val="tx1"/>
                </a:solidFill>
              </a:rPr>
              <a:t>Cases</a:t>
            </a:r>
            <a:r>
              <a:rPr lang="ru-RU" sz="2800" dirty="0">
                <a:solidFill>
                  <a:schemeClr val="tx1"/>
                </a:solidFill>
              </a:rPr>
              <a:t> — инкапсулируют бизнес-логику и вызываются из </a:t>
            </a:r>
            <a:r>
              <a:rPr lang="ru-RU" sz="2800" dirty="0" err="1">
                <a:solidFill>
                  <a:schemeClr val="tx1"/>
                </a:solidFill>
              </a:rPr>
              <a:t>ViewModel</a:t>
            </a:r>
            <a:r>
              <a:rPr lang="ru-RU" sz="2800" dirty="0">
                <a:solidFill>
                  <a:schemeClr val="tx1"/>
                </a:solidFill>
              </a:rPr>
              <a:t> для выполнения операций.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en-US" sz="2800" dirty="0" err="1">
                <a:solidFill>
                  <a:schemeClr val="tx1"/>
                </a:solidFill>
              </a:rPr>
              <a:t>viewModelScope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Методы для обработки действий запускают </a:t>
            </a: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корутины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, вызывают 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use case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и обновляют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UiState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444500" algn="just">
              <a:lnSpc>
                <a:spcPct val="10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10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 err="1">
                <a:solidFill>
                  <a:schemeClr val="tx1"/>
                </a:solidFill>
              </a:rPr>
              <a:t>ViewModel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1124451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>
                <a:solidFill>
                  <a:schemeClr val="tx1"/>
                </a:solidFill>
              </a:rPr>
              <a:t>Model </a:t>
            </a:r>
            <a:r>
              <a:rPr lang="ru-RU" sz="2800" dirty="0">
                <a:solidFill>
                  <a:schemeClr val="tx1"/>
                </a:solidFill>
              </a:rPr>
              <a:t>состоит из: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Репозиториев (интерфейсы и их реализации). Примеры: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AuthRepository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,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TaskRepository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.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Реализации интерфейсов используют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Supabase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Client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для работы с локальной БД и аутентификацией.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Use Cases –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инкапсулируют бизнес-логику и вызывают соответствующие методы репозиториев. Каждый сценарий представлен отдельным классом, что упрощает тестирование и повторное использование.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11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>
                <a:solidFill>
                  <a:schemeClr val="tx1"/>
                </a:solidFill>
              </a:rPr>
              <a:t>Model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1362204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12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Оформление приложения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6FD7D24-DBB6-48FE-8BAF-240A03D2CF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43216" y="2947594"/>
            <a:ext cx="1828800" cy="18288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FC7F09D-C56E-4049-9EE3-CCFFCCC6AADB}"/>
              </a:ext>
            </a:extLst>
          </p:cNvPr>
          <p:cNvSpPr txBox="1"/>
          <p:nvPr/>
        </p:nvSpPr>
        <p:spPr>
          <a:xfrm>
            <a:off x="10504232" y="4776394"/>
            <a:ext cx="1306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Иконка</a:t>
            </a:r>
          </a:p>
          <a:p>
            <a:pPr algn="ctr"/>
            <a:r>
              <a:rPr lang="ru-RU" sz="1600" dirty="0"/>
              <a:t>приложения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AA80E0-99FD-468A-8DCC-C6819056E421}"/>
              </a:ext>
            </a:extLst>
          </p:cNvPr>
          <p:cNvSpPr txBox="1"/>
          <p:nvPr/>
        </p:nvSpPr>
        <p:spPr>
          <a:xfrm>
            <a:off x="838199" y="1445948"/>
            <a:ext cx="940501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4500" algn="just"/>
            <a:r>
              <a:rPr lang="ru-RU" sz="2800" dirty="0"/>
              <a:t>Электронная подпись приложения с помощью </a:t>
            </a:r>
            <a:r>
              <a:rPr lang="en-US" sz="2800" dirty="0" err="1"/>
              <a:t>apksigner</a:t>
            </a:r>
            <a:r>
              <a:rPr lang="en-US" sz="2800" dirty="0"/>
              <a:t>:</a:t>
            </a:r>
          </a:p>
          <a:p>
            <a:pPr indent="444500" algn="just"/>
            <a:r>
              <a:rPr lang="en-US" sz="2800" dirty="0"/>
              <a:t>Verifies</a:t>
            </a:r>
          </a:p>
          <a:p>
            <a:pPr indent="444500" algn="just"/>
            <a:r>
              <a:rPr lang="en-US" sz="2800" dirty="0"/>
              <a:t>Verified using v1 scheme (JAR signing): false</a:t>
            </a:r>
          </a:p>
          <a:p>
            <a:pPr indent="444500" algn="just"/>
            <a:r>
              <a:rPr lang="en-US" sz="2800" dirty="0"/>
              <a:t>Verified using v2 scheme (APK Signature Scheme v2): true</a:t>
            </a:r>
          </a:p>
          <a:p>
            <a:pPr indent="444500" algn="just"/>
            <a:r>
              <a:rPr lang="en-US" sz="2800" dirty="0"/>
              <a:t>Verified using v3 scheme (APK Signature Scheme v3): false</a:t>
            </a:r>
          </a:p>
          <a:p>
            <a:pPr indent="444500" algn="just"/>
            <a:r>
              <a:rPr lang="en-US" sz="2800" dirty="0"/>
              <a:t>Verified using v3.1 scheme (APK Signature Scheme v3.1): false</a:t>
            </a:r>
          </a:p>
          <a:p>
            <a:pPr indent="444500" algn="just"/>
            <a:r>
              <a:rPr lang="en-US" sz="2800" dirty="0"/>
              <a:t>Verified using v4 scheme (APK Signature Scheme v4): false</a:t>
            </a:r>
          </a:p>
          <a:p>
            <a:pPr indent="444500" algn="just"/>
            <a:r>
              <a:rPr lang="en-US" sz="2800" dirty="0"/>
              <a:t>Verified for </a:t>
            </a:r>
            <a:r>
              <a:rPr lang="en-US" sz="2800" dirty="0" err="1"/>
              <a:t>SourceStamp</a:t>
            </a:r>
            <a:r>
              <a:rPr lang="en-US" sz="2800" dirty="0"/>
              <a:t>: false</a:t>
            </a:r>
          </a:p>
          <a:p>
            <a:pPr indent="444500" algn="just"/>
            <a:r>
              <a:rPr lang="en-US" sz="2800" dirty="0"/>
              <a:t>Number of signers: 1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317931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600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В ходе работы было реализовано </a:t>
            </a:r>
            <a:r>
              <a:rPr lang="en-US" sz="2800" dirty="0">
                <a:solidFill>
                  <a:schemeClr val="tx1"/>
                </a:solidFill>
              </a:rPr>
              <a:t>Android-</a:t>
            </a:r>
            <a:r>
              <a:rPr lang="ru-RU" sz="2800" dirty="0">
                <a:solidFill>
                  <a:schemeClr val="tx1"/>
                </a:solidFill>
              </a:rPr>
              <a:t>приложение интернет магазина с чистой архитектурой </a:t>
            </a:r>
            <a:r>
              <a:rPr lang="en-US" sz="2800" dirty="0">
                <a:solidFill>
                  <a:schemeClr val="tx1"/>
                </a:solidFill>
              </a:rPr>
              <a:t>MVVM</a:t>
            </a:r>
            <a:r>
              <a:rPr lang="ru-RU" sz="2800" dirty="0">
                <a:solidFill>
                  <a:schemeClr val="tx1"/>
                </a:solidFill>
              </a:rPr>
              <a:t>, которое имеет следующие возможности: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Регистрация и вход.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Просмотр списка текущих задач (ремонтов).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Хранение данных в удаленной </a:t>
            </a: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PostgreSQL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 базе.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13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Итоги работы</a:t>
            </a:r>
          </a:p>
        </p:txBody>
      </p:sp>
    </p:spTree>
    <p:extLst>
      <p:ext uri="{BB962C8B-B14F-4D97-AF65-F5344CB8AC3E}">
        <p14:creationId xmlns:p14="http://schemas.microsoft.com/office/powerpoint/2010/main" val="29881595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994</TotalTime>
  <Words>522</Words>
  <Application>Microsoft Office PowerPoint</Application>
  <PresentationFormat>Широкоэкранный</PresentationFormat>
  <Paragraphs>75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Calibri Light</vt:lpstr>
      <vt:lpstr>Calibri</vt:lpstr>
      <vt:lpstr>Тема Office</vt:lpstr>
      <vt:lpstr>Презентация PowerPoint</vt:lpstr>
      <vt:lpstr>Актуальность</vt:lpstr>
      <vt:lpstr>Постановка задачи</vt:lpstr>
      <vt:lpstr>Обзор аналогов</vt:lpstr>
      <vt:lpstr>Обзор аналогов</vt:lpstr>
      <vt:lpstr>Средства реализации</vt:lpstr>
      <vt:lpstr>Архитектура приложения</vt:lpstr>
      <vt:lpstr>Архитектура приложения</vt:lpstr>
      <vt:lpstr>Слой View приложения</vt:lpstr>
      <vt:lpstr>Слой ViewModel приложения</vt:lpstr>
      <vt:lpstr>Слой Model приложения</vt:lpstr>
      <vt:lpstr>Оформление приложения</vt:lpstr>
      <vt:lpstr>Итоги работы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SAMSUNG IT Academy Kotlin Course</dc:title>
  <dc:creator>Roman Lesovoy</dc:creator>
  <cp:lastModifiedBy>Ратмир Селютин</cp:lastModifiedBy>
  <cp:revision>25</cp:revision>
  <dcterms:created xsi:type="dcterms:W3CDTF">2020-10-18T13:39:56Z</dcterms:created>
  <dcterms:modified xsi:type="dcterms:W3CDTF">2026-06-05T18:47:40Z</dcterms:modified>
</cp:coreProperties>
</file>