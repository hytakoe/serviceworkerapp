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860" r:id="rId1"/>
  </p:sldMasterIdLst>
  <p:notesMasterIdLst>
    <p:notesMasterId r:id="rId16"/>
  </p:notesMasterIdLst>
  <p:sldIdLst>
    <p:sldId id="256" r:id="rId2"/>
    <p:sldId id="270" r:id="rId3"/>
    <p:sldId id="258" r:id="rId4"/>
    <p:sldId id="268" r:id="rId5"/>
    <p:sldId id="269" r:id="rId6"/>
    <p:sldId id="259" r:id="rId7"/>
    <p:sldId id="260" r:id="rId8"/>
    <p:sldId id="267" r:id="rId9"/>
    <p:sldId id="263" r:id="rId10"/>
    <p:sldId id="262" r:id="rId11"/>
    <p:sldId id="261" r:id="rId12"/>
    <p:sldId id="265" r:id="rId13"/>
    <p:sldId id="266" r:id="rId14"/>
    <p:sldId id="271" r:id="rId15"/>
  </p:sldIdLst>
  <p:sldSz cx="12192000" cy="6858000"/>
  <p:notesSz cx="6858000" cy="9144000"/>
  <p:embeddedFontLs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Calibri Light" panose="020F0302020204030204" pitchFamily="34" charset="0"/>
      <p:regular r:id="rId21"/>
      <p:italic r:id="rId2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Василий Ерохов" initials="ВЕ" lastIdx="1" clrIdx="0">
    <p:extLst>
      <p:ext uri="{19B8F6BF-5375-455C-9EA6-DF929625EA0E}">
        <p15:presenceInfo xmlns:p15="http://schemas.microsoft.com/office/powerpoint/2012/main" userId="48e187d55a52ef7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97A"/>
    <a:srgbClr val="3094FF"/>
    <a:srgbClr val="5DCDFF"/>
    <a:srgbClr val="0071BC"/>
    <a:srgbClr val="A0E5FE"/>
    <a:srgbClr val="8864FF"/>
    <a:srgbClr val="00AFFF"/>
    <a:srgbClr val="F98413"/>
    <a:srgbClr val="CC5BAB"/>
    <a:srgbClr val="905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>
        <p:scale>
          <a:sx n="85" d="100"/>
          <a:sy n="85" d="100"/>
        </p:scale>
        <p:origin x="49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ableStyles" Target="tableStyle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3-06T18:16:26.164" idx="1">
    <p:pos x="10" y="10"/>
    <p:text/>
    <p:extLst>
      <p:ext uri="{C676402C-5697-4E1C-873F-D02D1690AC5C}">
        <p15:threadingInfo xmlns:p15="http://schemas.microsoft.com/office/powerpoint/2012/main" timeZoneBias="-18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3D64DB-6921-4E89-BB57-DA51E8424924}" type="datetimeFigureOut">
              <a:rPr lang="ru-RU" smtClean="0"/>
              <a:t>06.06.2026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69ED0C-BBFD-4690-9EF1-F32FDBA46F7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8246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C939D8-B06C-4D28-85A9-A24D767C76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F6DE5F0-C4C0-4F98-B424-BE302BF1E7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9B213C-5DED-496C-8C3E-2D7B53AFF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B0F4B-37E6-4319-8F4B-24D1060A079B}" type="datetime1">
              <a:rPr lang="ru-RU" smtClean="0"/>
              <a:pPr/>
              <a:t>06.06.2026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7EAA33C-D3B5-4099-A825-C32915E06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0DE81A3-5130-49C5-9921-1C11FBCC2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C0B5485-700A-46CD-BCBE-903F011122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-1" t="5479" r="30931" b="31085"/>
          <a:stretch/>
        </p:blipFill>
        <p:spPr>
          <a:xfrm>
            <a:off x="3323205" y="0"/>
            <a:ext cx="8868796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E6B7971-BD5E-49D4-A8C6-0F96A45E0F8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00" y="0"/>
            <a:ext cx="2153465" cy="1211324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4EDABEC-710C-4631-80AE-DBECFBA24D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71" r="11861"/>
          <a:stretch/>
        </p:blipFill>
        <p:spPr>
          <a:xfrm>
            <a:off x="645730" y="980905"/>
            <a:ext cx="4874788" cy="5196502"/>
          </a:xfrm>
          <a:prstGeom prst="rect">
            <a:avLst/>
          </a:prstGeom>
        </p:spPr>
      </p:pic>
      <p:sp>
        <p:nvSpPr>
          <p:cNvPr id="10" name="Прямоугольный треугольник 9">
            <a:extLst>
              <a:ext uri="{FF2B5EF4-FFF2-40B4-BE49-F238E27FC236}">
                <a16:creationId xmlns:a16="http://schemas.microsoft.com/office/drawing/2014/main" id="{E68CFDD1-9418-446D-AA51-70006F6A4471}"/>
              </a:ext>
            </a:extLst>
          </p:cNvPr>
          <p:cNvSpPr/>
          <p:nvPr userDrawn="1"/>
        </p:nvSpPr>
        <p:spPr>
          <a:xfrm rot="8100000">
            <a:off x="813790" y="1079081"/>
            <a:ext cx="443552" cy="443552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ый треугольник 10">
            <a:extLst>
              <a:ext uri="{FF2B5EF4-FFF2-40B4-BE49-F238E27FC236}">
                <a16:creationId xmlns:a16="http://schemas.microsoft.com/office/drawing/2014/main" id="{E5980851-24CC-420E-82B1-347F6920512A}"/>
              </a:ext>
            </a:extLst>
          </p:cNvPr>
          <p:cNvSpPr/>
          <p:nvPr userDrawn="1"/>
        </p:nvSpPr>
        <p:spPr>
          <a:xfrm rot="8100000">
            <a:off x="724981" y="2206207"/>
            <a:ext cx="627903" cy="627903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ый треугольник 11">
            <a:extLst>
              <a:ext uri="{FF2B5EF4-FFF2-40B4-BE49-F238E27FC236}">
                <a16:creationId xmlns:a16="http://schemas.microsoft.com/office/drawing/2014/main" id="{5BC52F9E-16F9-475B-AEA0-68FEF376BFC1}"/>
              </a:ext>
            </a:extLst>
          </p:cNvPr>
          <p:cNvSpPr/>
          <p:nvPr userDrawn="1"/>
        </p:nvSpPr>
        <p:spPr>
          <a:xfrm rot="13500000">
            <a:off x="4246229" y="1668722"/>
            <a:ext cx="627903" cy="627903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ый треугольник 12">
            <a:extLst>
              <a:ext uri="{FF2B5EF4-FFF2-40B4-BE49-F238E27FC236}">
                <a16:creationId xmlns:a16="http://schemas.microsoft.com/office/drawing/2014/main" id="{8D8CDD1A-4AA8-456C-9D3F-43A7D20D1F76}"/>
              </a:ext>
            </a:extLst>
          </p:cNvPr>
          <p:cNvSpPr/>
          <p:nvPr userDrawn="1"/>
        </p:nvSpPr>
        <p:spPr>
          <a:xfrm rot="13500000">
            <a:off x="241646" y="5444620"/>
            <a:ext cx="627903" cy="627903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ый треугольник 13">
            <a:extLst>
              <a:ext uri="{FF2B5EF4-FFF2-40B4-BE49-F238E27FC236}">
                <a16:creationId xmlns:a16="http://schemas.microsoft.com/office/drawing/2014/main" id="{EB5B3724-BD3B-420B-A812-8BF79B54C873}"/>
              </a:ext>
            </a:extLst>
          </p:cNvPr>
          <p:cNvSpPr/>
          <p:nvPr userDrawn="1"/>
        </p:nvSpPr>
        <p:spPr>
          <a:xfrm rot="8100000">
            <a:off x="3490418" y="718813"/>
            <a:ext cx="340269" cy="340269"/>
          </a:xfrm>
          <a:prstGeom prst="rtTriangle">
            <a:avLst/>
          </a:prstGeom>
          <a:noFill/>
          <a:ln w="8572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ый треугольник 14">
            <a:extLst>
              <a:ext uri="{FF2B5EF4-FFF2-40B4-BE49-F238E27FC236}">
                <a16:creationId xmlns:a16="http://schemas.microsoft.com/office/drawing/2014/main" id="{36D3C31F-050F-4D76-AFBF-19B8A8DFC3F7}"/>
              </a:ext>
            </a:extLst>
          </p:cNvPr>
          <p:cNvSpPr/>
          <p:nvPr userDrawn="1"/>
        </p:nvSpPr>
        <p:spPr>
          <a:xfrm rot="8100000">
            <a:off x="3688713" y="5151587"/>
            <a:ext cx="340269" cy="340269"/>
          </a:xfrm>
          <a:prstGeom prst="rtTriangle">
            <a:avLst/>
          </a:prstGeom>
          <a:noFill/>
          <a:ln w="8572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олилиния: фигура 15">
            <a:extLst>
              <a:ext uri="{FF2B5EF4-FFF2-40B4-BE49-F238E27FC236}">
                <a16:creationId xmlns:a16="http://schemas.microsoft.com/office/drawing/2014/main" id="{7C113770-E1A8-4828-9BF0-4B1D3932214C}"/>
              </a:ext>
            </a:extLst>
          </p:cNvPr>
          <p:cNvSpPr/>
          <p:nvPr userDrawn="1"/>
        </p:nvSpPr>
        <p:spPr>
          <a:xfrm>
            <a:off x="5853521" y="573125"/>
            <a:ext cx="556958" cy="75216"/>
          </a:xfrm>
          <a:custGeom>
            <a:avLst/>
            <a:gdLst>
              <a:gd name="connsiteX0" fmla="*/ 0 w 2122226"/>
              <a:gd name="connsiteY0" fmla="*/ 286603 h 286603"/>
              <a:gd name="connsiteX1" fmla="*/ 197892 w 2122226"/>
              <a:gd name="connsiteY1" fmla="*/ 6824 h 286603"/>
              <a:gd name="connsiteX2" fmla="*/ 470847 w 2122226"/>
              <a:gd name="connsiteY2" fmla="*/ 279779 h 286603"/>
              <a:gd name="connsiteX3" fmla="*/ 736978 w 2122226"/>
              <a:gd name="connsiteY3" fmla="*/ 13648 h 286603"/>
              <a:gd name="connsiteX4" fmla="*/ 975814 w 2122226"/>
              <a:gd name="connsiteY4" fmla="*/ 252484 h 286603"/>
              <a:gd name="connsiteX5" fmla="*/ 1228298 w 2122226"/>
              <a:gd name="connsiteY5" fmla="*/ 0 h 286603"/>
              <a:gd name="connsiteX6" fmla="*/ 1480782 w 2122226"/>
              <a:gd name="connsiteY6" fmla="*/ 252484 h 286603"/>
              <a:gd name="connsiteX7" fmla="*/ 1726442 w 2122226"/>
              <a:gd name="connsiteY7" fmla="*/ 6824 h 286603"/>
              <a:gd name="connsiteX8" fmla="*/ 1972102 w 2122226"/>
              <a:gd name="connsiteY8" fmla="*/ 252484 h 286603"/>
              <a:gd name="connsiteX9" fmla="*/ 2122226 w 2122226"/>
              <a:gd name="connsiteY9" fmla="*/ 20472 h 286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122226" h="286603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34925">
            <a:gradFill>
              <a:gsLst>
                <a:gs pos="0">
                  <a:srgbClr val="00AFFF"/>
                </a:gs>
                <a:gs pos="100000">
                  <a:srgbClr val="8864FF"/>
                </a:gs>
              </a:gsLst>
              <a:lin ang="7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олилиния: фигура 16">
            <a:extLst>
              <a:ext uri="{FF2B5EF4-FFF2-40B4-BE49-F238E27FC236}">
                <a16:creationId xmlns:a16="http://schemas.microsoft.com/office/drawing/2014/main" id="{6D8C2A9E-410E-440C-B7A7-A8F0E9570030}"/>
              </a:ext>
            </a:extLst>
          </p:cNvPr>
          <p:cNvSpPr/>
          <p:nvPr userDrawn="1"/>
        </p:nvSpPr>
        <p:spPr>
          <a:xfrm>
            <a:off x="1130668" y="3065167"/>
            <a:ext cx="556958" cy="75216"/>
          </a:xfrm>
          <a:custGeom>
            <a:avLst/>
            <a:gdLst>
              <a:gd name="connsiteX0" fmla="*/ 0 w 2122226"/>
              <a:gd name="connsiteY0" fmla="*/ 286603 h 286603"/>
              <a:gd name="connsiteX1" fmla="*/ 197892 w 2122226"/>
              <a:gd name="connsiteY1" fmla="*/ 6824 h 286603"/>
              <a:gd name="connsiteX2" fmla="*/ 470847 w 2122226"/>
              <a:gd name="connsiteY2" fmla="*/ 279779 h 286603"/>
              <a:gd name="connsiteX3" fmla="*/ 736978 w 2122226"/>
              <a:gd name="connsiteY3" fmla="*/ 13648 h 286603"/>
              <a:gd name="connsiteX4" fmla="*/ 975814 w 2122226"/>
              <a:gd name="connsiteY4" fmla="*/ 252484 h 286603"/>
              <a:gd name="connsiteX5" fmla="*/ 1228298 w 2122226"/>
              <a:gd name="connsiteY5" fmla="*/ 0 h 286603"/>
              <a:gd name="connsiteX6" fmla="*/ 1480782 w 2122226"/>
              <a:gd name="connsiteY6" fmla="*/ 252484 h 286603"/>
              <a:gd name="connsiteX7" fmla="*/ 1726442 w 2122226"/>
              <a:gd name="connsiteY7" fmla="*/ 6824 h 286603"/>
              <a:gd name="connsiteX8" fmla="*/ 1972102 w 2122226"/>
              <a:gd name="connsiteY8" fmla="*/ 252484 h 286603"/>
              <a:gd name="connsiteX9" fmla="*/ 2122226 w 2122226"/>
              <a:gd name="connsiteY9" fmla="*/ 20472 h 286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122226" h="286603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4762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84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18" name="Полилиния: фигура 17">
            <a:extLst>
              <a:ext uri="{FF2B5EF4-FFF2-40B4-BE49-F238E27FC236}">
                <a16:creationId xmlns:a16="http://schemas.microsoft.com/office/drawing/2014/main" id="{950D9DB2-AF44-4605-836C-78340D912B85}"/>
              </a:ext>
            </a:extLst>
          </p:cNvPr>
          <p:cNvSpPr/>
          <p:nvPr userDrawn="1"/>
        </p:nvSpPr>
        <p:spPr>
          <a:xfrm>
            <a:off x="3245400" y="1701670"/>
            <a:ext cx="556958" cy="75216"/>
          </a:xfrm>
          <a:custGeom>
            <a:avLst/>
            <a:gdLst>
              <a:gd name="connsiteX0" fmla="*/ 0 w 2122226"/>
              <a:gd name="connsiteY0" fmla="*/ 286603 h 286603"/>
              <a:gd name="connsiteX1" fmla="*/ 197892 w 2122226"/>
              <a:gd name="connsiteY1" fmla="*/ 6824 h 286603"/>
              <a:gd name="connsiteX2" fmla="*/ 470847 w 2122226"/>
              <a:gd name="connsiteY2" fmla="*/ 279779 h 286603"/>
              <a:gd name="connsiteX3" fmla="*/ 736978 w 2122226"/>
              <a:gd name="connsiteY3" fmla="*/ 13648 h 286603"/>
              <a:gd name="connsiteX4" fmla="*/ 975814 w 2122226"/>
              <a:gd name="connsiteY4" fmla="*/ 252484 h 286603"/>
              <a:gd name="connsiteX5" fmla="*/ 1228298 w 2122226"/>
              <a:gd name="connsiteY5" fmla="*/ 0 h 286603"/>
              <a:gd name="connsiteX6" fmla="*/ 1480782 w 2122226"/>
              <a:gd name="connsiteY6" fmla="*/ 252484 h 286603"/>
              <a:gd name="connsiteX7" fmla="*/ 1726442 w 2122226"/>
              <a:gd name="connsiteY7" fmla="*/ 6824 h 286603"/>
              <a:gd name="connsiteX8" fmla="*/ 1972102 w 2122226"/>
              <a:gd name="connsiteY8" fmla="*/ 252484 h 286603"/>
              <a:gd name="connsiteX9" fmla="*/ 2122226 w 2122226"/>
              <a:gd name="connsiteY9" fmla="*/ 20472 h 286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122226" h="286603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34925">
            <a:gradFill>
              <a:gsLst>
                <a:gs pos="0">
                  <a:srgbClr val="00AFFF"/>
                </a:gs>
                <a:gs pos="100000">
                  <a:srgbClr val="8864FF"/>
                </a:gs>
              </a:gsLst>
              <a:lin ang="7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олилиния: фигура 18">
            <a:extLst>
              <a:ext uri="{FF2B5EF4-FFF2-40B4-BE49-F238E27FC236}">
                <a16:creationId xmlns:a16="http://schemas.microsoft.com/office/drawing/2014/main" id="{4332A32A-BF9B-445B-B8E2-A4BF604281E2}"/>
              </a:ext>
            </a:extLst>
          </p:cNvPr>
          <p:cNvSpPr/>
          <p:nvPr userDrawn="1"/>
        </p:nvSpPr>
        <p:spPr>
          <a:xfrm>
            <a:off x="1356679" y="5404154"/>
            <a:ext cx="556958" cy="75216"/>
          </a:xfrm>
          <a:custGeom>
            <a:avLst/>
            <a:gdLst>
              <a:gd name="connsiteX0" fmla="*/ 0 w 2122226"/>
              <a:gd name="connsiteY0" fmla="*/ 286603 h 286603"/>
              <a:gd name="connsiteX1" fmla="*/ 197892 w 2122226"/>
              <a:gd name="connsiteY1" fmla="*/ 6824 h 286603"/>
              <a:gd name="connsiteX2" fmla="*/ 470847 w 2122226"/>
              <a:gd name="connsiteY2" fmla="*/ 279779 h 286603"/>
              <a:gd name="connsiteX3" fmla="*/ 736978 w 2122226"/>
              <a:gd name="connsiteY3" fmla="*/ 13648 h 286603"/>
              <a:gd name="connsiteX4" fmla="*/ 975814 w 2122226"/>
              <a:gd name="connsiteY4" fmla="*/ 252484 h 286603"/>
              <a:gd name="connsiteX5" fmla="*/ 1228298 w 2122226"/>
              <a:gd name="connsiteY5" fmla="*/ 0 h 286603"/>
              <a:gd name="connsiteX6" fmla="*/ 1480782 w 2122226"/>
              <a:gd name="connsiteY6" fmla="*/ 252484 h 286603"/>
              <a:gd name="connsiteX7" fmla="*/ 1726442 w 2122226"/>
              <a:gd name="connsiteY7" fmla="*/ 6824 h 286603"/>
              <a:gd name="connsiteX8" fmla="*/ 1972102 w 2122226"/>
              <a:gd name="connsiteY8" fmla="*/ 252484 h 286603"/>
              <a:gd name="connsiteX9" fmla="*/ 2122226 w 2122226"/>
              <a:gd name="connsiteY9" fmla="*/ 20472 h 286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122226" h="286603">
                <a:moveTo>
                  <a:pt x="0" y="286603"/>
                </a:moveTo>
                <a:lnTo>
                  <a:pt x="197892" y="6824"/>
                </a:lnTo>
                <a:lnTo>
                  <a:pt x="470847" y="279779"/>
                </a:lnTo>
                <a:lnTo>
                  <a:pt x="736978" y="13648"/>
                </a:lnTo>
                <a:lnTo>
                  <a:pt x="975814" y="252484"/>
                </a:lnTo>
                <a:lnTo>
                  <a:pt x="1228298" y="0"/>
                </a:lnTo>
                <a:lnTo>
                  <a:pt x="1480782" y="252484"/>
                </a:lnTo>
                <a:lnTo>
                  <a:pt x="1726442" y="6824"/>
                </a:lnTo>
                <a:lnTo>
                  <a:pt x="1972102" y="252484"/>
                </a:lnTo>
                <a:lnTo>
                  <a:pt x="2122226" y="20472"/>
                </a:lnTo>
              </a:path>
            </a:pathLst>
          </a:custGeom>
          <a:noFill/>
          <a:ln w="4762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84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ru-RU"/>
          </a:p>
        </p:txBody>
      </p:sp>
      <p:sp>
        <p:nvSpPr>
          <p:cNvPr id="20" name="Прямоугольный треугольник 19">
            <a:extLst>
              <a:ext uri="{FF2B5EF4-FFF2-40B4-BE49-F238E27FC236}">
                <a16:creationId xmlns:a16="http://schemas.microsoft.com/office/drawing/2014/main" id="{06378CCE-C016-45BF-B5E0-62ED88DC1FC2}"/>
              </a:ext>
            </a:extLst>
          </p:cNvPr>
          <p:cNvSpPr/>
          <p:nvPr userDrawn="1"/>
        </p:nvSpPr>
        <p:spPr>
          <a:xfrm rot="18900000">
            <a:off x="2386678" y="5706960"/>
            <a:ext cx="340269" cy="340269"/>
          </a:xfrm>
          <a:prstGeom prst="rtTriangle">
            <a:avLst/>
          </a:prstGeom>
          <a:noFill/>
          <a:ln w="8572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ый треугольник 20">
            <a:extLst>
              <a:ext uri="{FF2B5EF4-FFF2-40B4-BE49-F238E27FC236}">
                <a16:creationId xmlns:a16="http://schemas.microsoft.com/office/drawing/2014/main" id="{F78E0547-33BD-4887-8FE5-56EBB04AE2AA}"/>
              </a:ext>
            </a:extLst>
          </p:cNvPr>
          <p:cNvSpPr/>
          <p:nvPr userDrawn="1"/>
        </p:nvSpPr>
        <p:spPr>
          <a:xfrm rot="18900000">
            <a:off x="4710131" y="5536795"/>
            <a:ext cx="443552" cy="443552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ый треугольник 21">
            <a:extLst>
              <a:ext uri="{FF2B5EF4-FFF2-40B4-BE49-F238E27FC236}">
                <a16:creationId xmlns:a16="http://schemas.microsoft.com/office/drawing/2014/main" id="{4A3E6414-F77C-485A-91F7-64190978C937}"/>
              </a:ext>
            </a:extLst>
          </p:cNvPr>
          <p:cNvSpPr/>
          <p:nvPr userDrawn="1"/>
        </p:nvSpPr>
        <p:spPr>
          <a:xfrm rot="18900000">
            <a:off x="7686638" y="5679449"/>
            <a:ext cx="284803" cy="288536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ый треугольник 22">
            <a:extLst>
              <a:ext uri="{FF2B5EF4-FFF2-40B4-BE49-F238E27FC236}">
                <a16:creationId xmlns:a16="http://schemas.microsoft.com/office/drawing/2014/main" id="{2EBE3668-9A92-442F-A194-6E9B94812678}"/>
              </a:ext>
            </a:extLst>
          </p:cNvPr>
          <p:cNvSpPr/>
          <p:nvPr userDrawn="1"/>
        </p:nvSpPr>
        <p:spPr>
          <a:xfrm rot="18900000">
            <a:off x="11138348" y="5702654"/>
            <a:ext cx="284803" cy="288536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ый треугольник 23">
            <a:extLst>
              <a:ext uri="{FF2B5EF4-FFF2-40B4-BE49-F238E27FC236}">
                <a16:creationId xmlns:a16="http://schemas.microsoft.com/office/drawing/2014/main" id="{56FD4EDE-9EA6-4ED0-92B1-7E2254E934FC}"/>
              </a:ext>
            </a:extLst>
          </p:cNvPr>
          <p:cNvSpPr/>
          <p:nvPr userDrawn="1"/>
        </p:nvSpPr>
        <p:spPr>
          <a:xfrm rot="8100000">
            <a:off x="9141043" y="1166121"/>
            <a:ext cx="443552" cy="443552"/>
          </a:xfrm>
          <a:prstGeom prst="rtTriangle">
            <a:avLst/>
          </a:prstGeom>
          <a:noFill/>
          <a:ln w="8572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A7EA9281-E51A-4D57-943B-5D242A27914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duotone>
              <a:prstClr val="black"/>
              <a:srgbClr val="00497A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369629" y="404261"/>
            <a:ext cx="1276295" cy="195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458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2BB1F1-A4DB-44E1-8A5A-960372FB8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829E2F9-7CC1-4751-A4B0-AA7F2B83E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5B8B251-2301-4EFB-9904-A39275A38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63FF75-B451-4E5A-A06A-CF511682A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4E2D8D5-BCB4-45B2-935D-CC2EA2848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321011"/>
      </p:ext>
    </p:extLst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0A9C91-DEBA-45F7-8841-910256375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BB0EDF3-C838-43F8-8C47-F571D213E9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B6058E9-C30A-41ED-BF0C-0213C0296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769DDBD-79C2-403E-8940-8E704577B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4AF93F-B91A-4CC8-9D3F-61D6F9D49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7046179"/>
      </p:ext>
    </p:extLst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9A65E5-935B-4201-88DA-EF87C3995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D70E7EC-191B-4AE5-B72F-7BAE11D7AB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3274A1-CB14-47D4-BB09-F0A260FD57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E696104-CC20-4039-88F0-880554312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F86870A-BF6A-499C-9973-B712771F1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5103EEA-FB95-4096-9622-A1A98F001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8694138"/>
      </p:ext>
    </p:extLst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8474A2-D192-464F-A372-66A5600F2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3435313-9561-4C85-8A02-7DA4CC0631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0AB8990-BBB2-46CD-A73B-4DA55AF36C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ED173F3-EE69-46AA-9003-8A46C2AB92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0B3524F-C496-4D4C-AEC6-728538B888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FB2578E-2101-4D2B-93E6-8CBB21A39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06.06.2026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417BA96-2202-423C-ADA9-DC7409424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2487BA3-24F1-4E8C-826F-52882FC03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1691056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40E12B-6C5A-468D-82D2-384357CDE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2B28800-34A4-4A7F-9B4C-C331E259C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06.06.2026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4DD52F6-F1AB-4EDC-8D36-04974D359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B82152E-B66E-427E-8D8C-CD11EECF6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0392012"/>
      </p:ext>
    </p:extLst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20C9C0E-CCCA-4F66-B0B3-E1638B644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06.06.2026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4B807DF-1BFF-4BF5-AE1F-25B77C27E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FCC9830-FFEA-4F1F-B0E2-F115A5747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4919396"/>
      </p:ext>
    </p:extLst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2B15807-E4F7-4601-BA07-78B477C57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16D9597-3462-4AA6-9DD9-A689BFBE0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8796005-D8AF-4520-9009-CAE57BAF52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D871130-C336-49EC-9D07-58B1541AB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4EDD78F-578A-41B8-AC12-DB70BD3D9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0EF72AF-BBD4-4A67-983F-7196B2E1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8654060"/>
      </p:ext>
    </p:extLst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3E25C5-5BF4-43B4-981B-A6495A0EC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991036D-AECC-43D4-A6A9-2F1191F2F5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629D242-4102-49B5-8B6C-5FE54ECA9B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91C3B12-B61E-4578-A37E-7E87BB2F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06.06.2026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87BC09F-5874-4540-B552-AFF08F156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56EB61C-1FE3-4FF5-AE39-B2A06E67F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4096517"/>
      </p:ext>
    </p:extLst>
  </p:cSld>
  <p:clrMapOvr>
    <a:masterClrMapping/>
  </p:clrMapOvr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80787C-CCDF-4005-8166-5E7CB549F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AE43384-9212-4186-91D8-7AC0C9108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314209B-C62D-49F2-896E-749A02443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A0C10A8-7E94-42FE-B760-FEBF8DE09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041A7F7-E710-4E9E-A8E6-359F8D898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1152350"/>
      </p:ext>
    </p:extLst>
  </p:cSld>
  <p:clrMapOvr>
    <a:masterClrMapping/>
  </p:clrMapOvr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C384BE4-89D4-41FA-9331-258651715E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2B9A16B-DD95-4E76-A7C0-4C64BB79C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7BDE03D-2875-433B-AC83-D540A12C6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B0392-6652-4E63-9185-19FE4105AD5C}" type="datetime1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3BFB28F-C73D-4F2E-A726-CA60146E5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6F69DCD-40B1-4C11-93BD-D97E52DD6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0556638"/>
      </p:ext>
    </p:extLst>
  </p:cSld>
  <p:clrMapOvr>
    <a:masterClrMapping/>
  </p:clrMapOvr>
  <p:hf hdr="0" ft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Инфо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F865ADE-93B5-4588-8305-48B2BEC2FEEA}"/>
              </a:ext>
            </a:extLst>
          </p:cNvPr>
          <p:cNvSpPr/>
          <p:nvPr userDrawn="1"/>
        </p:nvSpPr>
        <p:spPr>
          <a:xfrm>
            <a:off x="75143" y="66438"/>
            <a:ext cx="12041715" cy="67251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бъект 2">
            <a:extLst>
              <a:ext uri="{FF2B5EF4-FFF2-40B4-BE49-F238E27FC236}">
                <a16:creationId xmlns:a16="http://schemas.microsoft.com/office/drawing/2014/main" id="{0CF99737-AECE-4F14-89EE-B6B6EB949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2816"/>
            <a:ext cx="10515600" cy="4974147"/>
          </a:xfrm>
        </p:spPr>
        <p:txBody>
          <a:bodyPr>
            <a:normAutofit/>
          </a:bodyPr>
          <a:lstStyle>
            <a:lvl1pPr>
              <a:defRPr sz="1800">
                <a:solidFill>
                  <a:srgbClr val="00497A"/>
                </a:solidFill>
              </a:defRPr>
            </a:lvl1pPr>
            <a:lvl2pPr>
              <a:defRPr sz="1600">
                <a:solidFill>
                  <a:srgbClr val="00497A"/>
                </a:solidFill>
              </a:defRPr>
            </a:lvl2pPr>
            <a:lvl3pPr>
              <a:defRPr sz="1400">
                <a:solidFill>
                  <a:srgbClr val="00497A"/>
                </a:solidFill>
              </a:defRPr>
            </a:lvl3pPr>
            <a:lvl4pPr>
              <a:defRPr sz="1200">
                <a:solidFill>
                  <a:srgbClr val="00497A"/>
                </a:solidFill>
              </a:defRPr>
            </a:lvl4pPr>
            <a:lvl5pPr>
              <a:defRPr sz="1200">
                <a:solidFill>
                  <a:srgbClr val="00497A"/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 err="1"/>
              <a:t>Четвертый</a:t>
            </a:r>
            <a:r>
              <a:rPr lang="ru-RU" dirty="0"/>
              <a:t>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25888C-A95E-4A1F-AA86-46AA54381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00497A"/>
                </a:solidFill>
              </a:defRPr>
            </a:lvl1pPr>
          </a:lstStyle>
          <a:p>
            <a:fld id="{112B0F4B-37E6-4319-8F4B-24D1060A079B}" type="datetime1">
              <a:rPr lang="ru-RU" smtClean="0"/>
              <a:pPr/>
              <a:t>06.06.2026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F3BF629-A3BD-4A63-88E4-B4C92EA2C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00497A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8217BE-D2B2-4E46-A31E-05CD31E3C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00497A"/>
                </a:solidFill>
              </a:defRPr>
            </a:lvl1pPr>
          </a:lstStyle>
          <a:p>
            <a:fld id="{7870AAFC-F658-4D4F-B37E-DA3BC9CB41D6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D8005A1-155B-4DB1-875C-2838BFF3D9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1578" y="230091"/>
            <a:ext cx="1565600" cy="880650"/>
          </a:xfrm>
          <a:prstGeom prst="rect">
            <a:avLst/>
          </a:prstGeom>
        </p:spPr>
      </p:pic>
      <p:sp>
        <p:nvSpPr>
          <p:cNvPr id="12" name="Прямоугольный треугольник 11">
            <a:extLst>
              <a:ext uri="{FF2B5EF4-FFF2-40B4-BE49-F238E27FC236}">
                <a16:creationId xmlns:a16="http://schemas.microsoft.com/office/drawing/2014/main" id="{CFBF183B-B98F-497F-9D31-BA26CF15B95F}"/>
              </a:ext>
            </a:extLst>
          </p:cNvPr>
          <p:cNvSpPr/>
          <p:nvPr userDrawn="1"/>
        </p:nvSpPr>
        <p:spPr>
          <a:xfrm rot="8100000">
            <a:off x="463203" y="707191"/>
            <a:ext cx="184546" cy="182731"/>
          </a:xfrm>
          <a:prstGeom prst="rtTriangle">
            <a:avLst/>
          </a:prstGeom>
          <a:noFill/>
          <a:ln w="4127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ый треугольник 14">
            <a:extLst>
              <a:ext uri="{FF2B5EF4-FFF2-40B4-BE49-F238E27FC236}">
                <a16:creationId xmlns:a16="http://schemas.microsoft.com/office/drawing/2014/main" id="{789CF102-F384-4159-BBA3-C403C20908A9}"/>
              </a:ext>
            </a:extLst>
          </p:cNvPr>
          <p:cNvSpPr/>
          <p:nvPr userDrawn="1"/>
        </p:nvSpPr>
        <p:spPr>
          <a:xfrm rot="13500000">
            <a:off x="247432" y="1848548"/>
            <a:ext cx="390872" cy="387030"/>
          </a:xfrm>
          <a:prstGeom prst="rtTriangle">
            <a:avLst/>
          </a:prstGeom>
          <a:noFill/>
          <a:ln w="4127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ый треугольник 15">
            <a:extLst>
              <a:ext uri="{FF2B5EF4-FFF2-40B4-BE49-F238E27FC236}">
                <a16:creationId xmlns:a16="http://schemas.microsoft.com/office/drawing/2014/main" id="{AF8265A1-CAD2-4652-B16C-F2E19FD81F2F}"/>
              </a:ext>
            </a:extLst>
          </p:cNvPr>
          <p:cNvSpPr/>
          <p:nvPr userDrawn="1"/>
        </p:nvSpPr>
        <p:spPr>
          <a:xfrm rot="8100000">
            <a:off x="452221" y="237731"/>
            <a:ext cx="211818" cy="209736"/>
          </a:xfrm>
          <a:prstGeom prst="rtTriangle">
            <a:avLst/>
          </a:prstGeom>
          <a:noFill/>
          <a:ln w="4127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ый треугольник 16">
            <a:extLst>
              <a:ext uri="{FF2B5EF4-FFF2-40B4-BE49-F238E27FC236}">
                <a16:creationId xmlns:a16="http://schemas.microsoft.com/office/drawing/2014/main" id="{9B0330C4-C5DD-4328-9BC7-57E1A77F6C10}"/>
              </a:ext>
            </a:extLst>
          </p:cNvPr>
          <p:cNvSpPr/>
          <p:nvPr userDrawn="1"/>
        </p:nvSpPr>
        <p:spPr>
          <a:xfrm rot="8100000">
            <a:off x="11630738" y="6109252"/>
            <a:ext cx="211818" cy="209736"/>
          </a:xfrm>
          <a:prstGeom prst="rtTriangle">
            <a:avLst/>
          </a:prstGeom>
          <a:noFill/>
          <a:ln w="4127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ый треугольник 21">
            <a:extLst>
              <a:ext uri="{FF2B5EF4-FFF2-40B4-BE49-F238E27FC236}">
                <a16:creationId xmlns:a16="http://schemas.microsoft.com/office/drawing/2014/main" id="{6C65F344-A574-4F02-91D3-07FC6E5B5033}"/>
              </a:ext>
            </a:extLst>
          </p:cNvPr>
          <p:cNvSpPr/>
          <p:nvPr userDrawn="1"/>
        </p:nvSpPr>
        <p:spPr>
          <a:xfrm rot="18900000">
            <a:off x="640728" y="5962466"/>
            <a:ext cx="211818" cy="209736"/>
          </a:xfrm>
          <a:prstGeom prst="rtTriangle">
            <a:avLst/>
          </a:prstGeom>
          <a:noFill/>
          <a:ln w="41275">
            <a:gradFill>
              <a:gsLst>
                <a:gs pos="0">
                  <a:srgbClr val="CC5BAB"/>
                </a:gs>
                <a:gs pos="100000">
                  <a:srgbClr val="F98413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ый треугольник 22">
            <a:extLst>
              <a:ext uri="{FF2B5EF4-FFF2-40B4-BE49-F238E27FC236}">
                <a16:creationId xmlns:a16="http://schemas.microsoft.com/office/drawing/2014/main" id="{7B33F8A4-D60D-488E-81ED-86A3FE6D62E8}"/>
              </a:ext>
            </a:extLst>
          </p:cNvPr>
          <p:cNvSpPr/>
          <p:nvPr userDrawn="1"/>
        </p:nvSpPr>
        <p:spPr>
          <a:xfrm rot="18900000">
            <a:off x="3552592" y="6019366"/>
            <a:ext cx="276113" cy="273399"/>
          </a:xfrm>
          <a:prstGeom prst="rtTriangle">
            <a:avLst/>
          </a:prstGeom>
          <a:noFill/>
          <a:ln w="4127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ый треугольник 23">
            <a:extLst>
              <a:ext uri="{FF2B5EF4-FFF2-40B4-BE49-F238E27FC236}">
                <a16:creationId xmlns:a16="http://schemas.microsoft.com/office/drawing/2014/main" id="{C4E599F6-5CBC-4551-BD6C-077F23AF3941}"/>
              </a:ext>
            </a:extLst>
          </p:cNvPr>
          <p:cNvSpPr/>
          <p:nvPr userDrawn="1"/>
        </p:nvSpPr>
        <p:spPr>
          <a:xfrm rot="18900000">
            <a:off x="8198253" y="6158127"/>
            <a:ext cx="177291" cy="177850"/>
          </a:xfrm>
          <a:prstGeom prst="rtTriangle">
            <a:avLst/>
          </a:prstGeom>
          <a:noFill/>
          <a:ln w="4127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ый треугольник 24">
            <a:extLst>
              <a:ext uri="{FF2B5EF4-FFF2-40B4-BE49-F238E27FC236}">
                <a16:creationId xmlns:a16="http://schemas.microsoft.com/office/drawing/2014/main" id="{11E09F5D-4D01-4972-9F22-02A0248FF409}"/>
              </a:ext>
            </a:extLst>
          </p:cNvPr>
          <p:cNvSpPr/>
          <p:nvPr userDrawn="1"/>
        </p:nvSpPr>
        <p:spPr>
          <a:xfrm rot="18900000">
            <a:off x="11492079" y="6292570"/>
            <a:ext cx="177291" cy="177850"/>
          </a:xfrm>
          <a:prstGeom prst="rtTriangle">
            <a:avLst/>
          </a:prstGeom>
          <a:noFill/>
          <a:ln w="41275">
            <a:gradFill>
              <a:gsLst>
                <a:gs pos="0">
                  <a:srgbClr val="3094FF"/>
                </a:gs>
                <a:gs pos="100000">
                  <a:srgbClr val="905FFF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Заголовок 1">
            <a:extLst>
              <a:ext uri="{FF2B5EF4-FFF2-40B4-BE49-F238E27FC236}">
                <a16:creationId xmlns:a16="http://schemas.microsoft.com/office/drawing/2014/main" id="{345522D5-2C20-4CF3-A8DA-DDA51379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202474" cy="697717"/>
          </a:xfrm>
        </p:spPr>
        <p:txBody>
          <a:bodyPr/>
          <a:lstStyle>
            <a:lvl1pPr>
              <a:lnSpc>
                <a:spcPct val="70000"/>
              </a:lnSpc>
              <a:defRPr>
                <a:solidFill>
                  <a:srgbClr val="00497A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D76A972D-CF22-4B4A-AF0A-F6DC4391B49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rgbClr val="00497A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9130354" y="598091"/>
            <a:ext cx="1272875" cy="194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126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240ACB-DB40-4900-8210-C2A9314FF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C237117-7F9A-4107-AFEF-BDE3B5358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4705BD7-EF22-4FE5-A914-4952B4B37F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B0392-6652-4E63-9185-19FE4105AD5C}" type="datetime1">
              <a:rPr lang="ru-RU" smtClean="0"/>
              <a:t>06.06.2026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CAEA5C2-B3A2-4395-A2F8-B7AB124952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C56CD2A-A7A8-4753-9B5C-5AB23B4041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70AAFC-F658-4D4F-B37E-DA3BC9CB41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0888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1" r:id="rId1"/>
    <p:sldLayoutId id="2147483862" r:id="rId2"/>
    <p:sldLayoutId id="2147483863" r:id="rId3"/>
    <p:sldLayoutId id="2147483864" r:id="rId4"/>
    <p:sldLayoutId id="2147483865" r:id="rId5"/>
    <p:sldLayoutId id="2147483866" r:id="rId6"/>
    <p:sldLayoutId id="2147483867" r:id="rId7"/>
    <p:sldLayoutId id="2147483868" r:id="rId8"/>
    <p:sldLayoutId id="2147483869" r:id="rId9"/>
    <p:sldLayoutId id="2147483870" r:id="rId10"/>
    <p:sldLayoutId id="2147483871" r:id="rId11"/>
    <p:sldLayoutId id="2147483872" r:id="rId1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Relationship Id="rId4" Type="http://schemas.openxmlformats.org/officeDocument/2006/relationships/comments" Target="../comments/commen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1D0B3C-4330-775A-D8A5-7BDDA7A225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700" y="190501"/>
            <a:ext cx="11658600" cy="1276349"/>
          </a:xfrm>
        </p:spPr>
        <p:txBody>
          <a:bodyPr>
            <a:norm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МИНОБРНАУКИ РОССИИ ФЕДЕРАЛЬНОЕ ГОСУДАРСТВЕННОЕ БЮДЖЕТНОЕ ОБРАЗОВАТЕЛЬНОЕ УЧРЕЖДЕНИЕ ВЫСШЕГО ОБРАЗОВАНИЯ «ВОРОНЕЖСКИЙ ГОСУДАРСТВЕННЫЙ УНИВЕРСИТЕТ» (ФГБОУ ВО «ВГУ») 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41DE144-93D5-2280-8A77-9356B71E1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05000"/>
            <a:ext cx="9144000" cy="703911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Факультет компьютерных наук 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программирования и информационных технологий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2847BE-98AB-59E3-A177-3FA39E069FD2}"/>
              </a:ext>
            </a:extLst>
          </p:cNvPr>
          <p:cNvSpPr txBox="1"/>
          <p:nvPr/>
        </p:nvSpPr>
        <p:spPr>
          <a:xfrm>
            <a:off x="485775" y="3047061"/>
            <a:ext cx="11220450" cy="6132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ru-RU" sz="3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Разработка приложения для работника автосервиса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28718-D8F8-BF9A-8013-0211D7649721}"/>
              </a:ext>
            </a:extLst>
          </p:cNvPr>
          <p:cNvSpPr txBox="1"/>
          <p:nvPr/>
        </p:nvSpPr>
        <p:spPr>
          <a:xfrm>
            <a:off x="6838950" y="5225534"/>
            <a:ext cx="508635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руководитель: Ушаков В.А.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Выполнил: Селютин Р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93948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3015"/>
            <a:ext cx="10515599" cy="4743948"/>
          </a:xfrm>
        </p:spPr>
        <p:txBody>
          <a:bodyPr>
            <a:normAutofit/>
          </a:bodyPr>
          <a:lstStyle/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Рынок автосервисов в России активно растёт. Количество автомобилей увеличивается, возрастает и потребность в их обслуживании и ремонте. При этом многие автосервисы до сих пор работают «по старинке» — используют бумажные журналы, Excel-таблицы или разрозненные заметки.</a:t>
            </a:r>
            <a:endParaRPr lang="ru-RU" sz="2800" dirty="0">
              <a:solidFill>
                <a:schemeClr val="tx1"/>
              </a:solidFill>
              <a:cs typeface="Times New Roman"/>
            </a:endParaRP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F199AD9-ACD2-4DBE-B486-CF50CF360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2B0F4B-37E6-4319-8F4B-24D1060A079B}" type="datetime1">
              <a:rPr lang="ru-RU" smtClean="0"/>
              <a:pPr/>
              <a:t>06.06.2026</a:t>
            </a:fld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2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Актуальность</a:t>
            </a:r>
          </a:p>
        </p:txBody>
      </p:sp>
    </p:spTree>
    <p:extLst>
      <p:ext uri="{BB962C8B-B14F-4D97-AF65-F5344CB8AC3E}">
        <p14:creationId xmlns:p14="http://schemas.microsoft.com/office/powerpoint/2010/main" val="241937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3015"/>
            <a:ext cx="10515599" cy="4743948"/>
          </a:xfrm>
        </p:spPr>
        <p:txBody>
          <a:bodyPr>
            <a:normAutofit/>
          </a:bodyPr>
          <a:lstStyle/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Цель проекта – разработка мобильного приложения с чистой архитектурой для автоматизации работы автосервиса на платформе </a:t>
            </a:r>
            <a:r>
              <a:rPr lang="ru-RU" sz="2800" dirty="0" err="1">
                <a:solidFill>
                  <a:schemeClr val="tx1"/>
                </a:solidFill>
              </a:rPr>
              <a:t>Android</a:t>
            </a:r>
            <a:r>
              <a:rPr lang="ru-RU" sz="2800" dirty="0">
                <a:solidFill>
                  <a:schemeClr val="tx1"/>
                </a:solidFill>
              </a:rPr>
              <a:t>.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Функциональные возможности: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Регистрация и вход для сотрудников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Просмотр списка текущих задач (ремонтов)</a:t>
            </a:r>
          </a:p>
          <a:p>
            <a:pPr marL="0" indent="444500" algn="just">
              <a:lnSpc>
                <a:spcPct val="150000"/>
              </a:lnSpc>
              <a:buNone/>
            </a:pPr>
            <a:endParaRPr lang="ru-RU" sz="2800" dirty="0">
              <a:solidFill>
                <a:schemeClr val="tx1"/>
              </a:solidFill>
              <a:cs typeface="Times New Roman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3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Постановка задачи</a:t>
            </a:r>
          </a:p>
        </p:txBody>
      </p:sp>
    </p:spTree>
    <p:extLst>
      <p:ext uri="{BB962C8B-B14F-4D97-AF65-F5344CB8AC3E}">
        <p14:creationId xmlns:p14="http://schemas.microsoft.com/office/powerpoint/2010/main" val="3420941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218" y="839344"/>
            <a:ext cx="10515599" cy="4743948"/>
          </a:xfrm>
        </p:spPr>
        <p:txBody>
          <a:bodyPr>
            <a:normAutofit/>
          </a:bodyPr>
          <a:lstStyle/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1С: Автодилер</a:t>
            </a:r>
            <a:endParaRPr lang="ru-RU" sz="2800" dirty="0">
              <a:solidFill>
                <a:schemeClr val="tx1"/>
              </a:solidFill>
              <a:cs typeface="Times New Roman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4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Обзор аналогов</a:t>
            </a:r>
          </a:p>
        </p:txBody>
      </p:sp>
      <p:pic>
        <p:nvPicPr>
          <p:cNvPr id="6" name="Рисунок 5" descr="Заказ-наряд в 1С УНФ - инструкции по работе с 1С от Деловых решений">
            <a:extLst>
              <a:ext uri="{FF2B5EF4-FFF2-40B4-BE49-F238E27FC236}">
                <a16:creationId xmlns:a16="http://schemas.microsoft.com/office/drawing/2014/main" id="{CCA916C9-2B7B-435E-BD75-D098A04458F0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7018" y="1537061"/>
            <a:ext cx="9337963" cy="486908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96277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218" y="839344"/>
            <a:ext cx="10515599" cy="4743948"/>
          </a:xfrm>
        </p:spPr>
        <p:txBody>
          <a:bodyPr>
            <a:normAutofit/>
          </a:bodyPr>
          <a:lstStyle/>
          <a:p>
            <a:pPr marL="0" indent="444500" algn="just">
              <a:lnSpc>
                <a:spcPct val="150000"/>
              </a:lnSpc>
              <a:buNone/>
            </a:pPr>
            <a:r>
              <a:rPr lang="en-US" sz="2800" dirty="0">
                <a:solidFill>
                  <a:schemeClr val="tx1"/>
                </a:solidFill>
                <a:cs typeface="Times New Roman"/>
              </a:rPr>
              <a:t>VINDESK </a:t>
            </a:r>
            <a:endParaRPr lang="ru-RU" sz="2800" dirty="0">
              <a:solidFill>
                <a:schemeClr val="tx1"/>
              </a:solidFill>
              <a:cs typeface="Times New Roman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5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Обзор аналогов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FDA3D44-9E4E-454D-9774-EE4299F6E39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60715" y="1493380"/>
            <a:ext cx="9914604" cy="4862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283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3015"/>
            <a:ext cx="10515599" cy="4743948"/>
          </a:xfrm>
        </p:spPr>
        <p:txBody>
          <a:bodyPr>
            <a:normAutofit/>
          </a:bodyPr>
          <a:lstStyle/>
          <a:p>
            <a:pPr marL="0" indent="444500">
              <a:lnSpc>
                <a:spcPct val="150000"/>
              </a:lnSpc>
              <a:buNone/>
            </a:pPr>
            <a:r>
              <a:rPr lang="ru-RU" sz="2800" dirty="0" err="1">
                <a:solidFill>
                  <a:schemeClr val="tx1"/>
                </a:solidFill>
                <a:cs typeface="Times New Roman"/>
              </a:rPr>
              <a:t>Kotli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n</a:t>
            </a:r>
            <a:r>
              <a:rPr lang="en-US" sz="2800" dirty="0">
                <a:solidFill>
                  <a:schemeClr val="tx1"/>
                </a:solidFill>
              </a:rPr>
              <a:t>.</a:t>
            </a:r>
          </a:p>
          <a:p>
            <a:pPr marL="0" indent="444500">
              <a:lnSpc>
                <a:spcPct val="150000"/>
              </a:lnSpc>
              <a:buNone/>
            </a:pPr>
            <a:r>
              <a:rPr lang="en-US" sz="2800" dirty="0">
                <a:solidFill>
                  <a:schemeClr val="tx1"/>
                </a:solidFill>
                <a:cs typeface="Times New Roman"/>
              </a:rPr>
              <a:t>PostgreSQL 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через </a:t>
            </a:r>
            <a:r>
              <a:rPr lang="en-US" sz="2800" dirty="0" err="1">
                <a:solidFill>
                  <a:schemeClr val="tx1"/>
                </a:solidFill>
                <a:cs typeface="Times New Roman"/>
              </a:rPr>
              <a:t>Supabase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.</a:t>
            </a:r>
            <a:endParaRPr lang="ru-RU" sz="2800" dirty="0">
              <a:solidFill>
                <a:schemeClr val="tx1"/>
              </a:solidFill>
              <a:cs typeface="Times New Roman"/>
            </a:endParaRPr>
          </a:p>
          <a:p>
            <a:pPr marL="0" lvl="0" indent="0">
              <a:lnSpc>
                <a:spcPct val="150000"/>
              </a:lnSpc>
              <a:buNone/>
            </a:pP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6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Средства реализации</a:t>
            </a: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B032453D-FA88-4AA9-8377-9806EC00AC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9173" y="4093387"/>
            <a:ext cx="1807785" cy="1807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8" descr="Picture background">
            <a:extLst>
              <a:ext uri="{FF2B5EF4-FFF2-40B4-BE49-F238E27FC236}">
                <a16:creationId xmlns:a16="http://schemas.microsoft.com/office/drawing/2014/main" id="{44E84B5A-1C5C-47E1-A7FD-E11514ACFB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3465" y="956828"/>
            <a:ext cx="2037209" cy="2100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upabase Icon icon - Free Download PNG &amp; SVG | Streamline">
            <a:extLst>
              <a:ext uri="{FF2B5EF4-FFF2-40B4-BE49-F238E27FC236}">
                <a16:creationId xmlns:a16="http://schemas.microsoft.com/office/drawing/2014/main" id="{46D83307-A738-49E6-AA21-7F64714E10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7239" y="3146612"/>
            <a:ext cx="2607134" cy="2607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2581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1626"/>
            <a:ext cx="10515599" cy="4743948"/>
          </a:xfrm>
        </p:spPr>
        <p:txBody>
          <a:bodyPr>
            <a:noAutofit/>
          </a:bodyPr>
          <a:lstStyle/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Был использован архитектурный паттерн </a:t>
            </a:r>
            <a:r>
              <a:rPr lang="en-US" sz="2800" dirty="0">
                <a:solidFill>
                  <a:schemeClr val="tx1"/>
                </a:solidFill>
              </a:rPr>
              <a:t>MVVM (Model-View-</a:t>
            </a:r>
            <a:r>
              <a:rPr lang="en-US" sz="2800" dirty="0" err="1">
                <a:solidFill>
                  <a:schemeClr val="tx1"/>
                </a:solidFill>
              </a:rPr>
              <a:t>ViewModel</a:t>
            </a:r>
            <a:r>
              <a:rPr lang="en-US" sz="2800" dirty="0">
                <a:solidFill>
                  <a:schemeClr val="tx1"/>
                </a:solidFill>
              </a:rPr>
              <a:t>)</a:t>
            </a:r>
            <a:r>
              <a:rPr lang="ru-RU" sz="2800" dirty="0">
                <a:solidFill>
                  <a:schemeClr val="tx1"/>
                </a:solidFill>
              </a:rPr>
              <a:t>, разделяющий приложение на три слоя: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</a:t>
            </a:r>
            <a:r>
              <a:rPr lang="ru-RU" sz="2800" dirty="0" err="1">
                <a:solidFill>
                  <a:schemeClr val="tx1"/>
                </a:solidFill>
              </a:rPr>
              <a:t>Model</a:t>
            </a:r>
            <a:r>
              <a:rPr lang="ru-RU" sz="2800" dirty="0">
                <a:solidFill>
                  <a:schemeClr val="tx1"/>
                </a:solidFill>
              </a:rPr>
              <a:t> — данные и бизнес-логика.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</a:t>
            </a:r>
            <a:r>
              <a:rPr lang="ru-RU" sz="2800" dirty="0" err="1">
                <a:solidFill>
                  <a:schemeClr val="tx1"/>
                </a:solidFill>
              </a:rPr>
              <a:t>View</a:t>
            </a:r>
            <a:r>
              <a:rPr lang="ru-RU" sz="2800" dirty="0">
                <a:solidFill>
                  <a:schemeClr val="tx1"/>
                </a:solidFill>
              </a:rPr>
              <a:t> — UI (</a:t>
            </a:r>
            <a:r>
              <a:rPr lang="ru-RU" sz="2800" dirty="0" err="1">
                <a:solidFill>
                  <a:schemeClr val="tx1"/>
                </a:solidFill>
              </a:rPr>
              <a:t>Activity</a:t>
            </a:r>
            <a:r>
              <a:rPr lang="ru-RU" sz="2800" dirty="0">
                <a:solidFill>
                  <a:schemeClr val="tx1"/>
                </a:solidFill>
              </a:rPr>
              <a:t>/</a:t>
            </a:r>
            <a:r>
              <a:rPr lang="ru-RU" sz="2800" dirty="0" err="1">
                <a:solidFill>
                  <a:schemeClr val="tx1"/>
                </a:solidFill>
              </a:rPr>
              <a:t>Fragment</a:t>
            </a:r>
            <a:r>
              <a:rPr lang="ru-RU" sz="2800" dirty="0">
                <a:solidFill>
                  <a:schemeClr val="tx1"/>
                </a:solidFill>
              </a:rPr>
              <a:t>).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</a:t>
            </a:r>
            <a:r>
              <a:rPr lang="ru-RU" sz="2800" dirty="0" err="1">
                <a:solidFill>
                  <a:schemeClr val="tx1"/>
                </a:solidFill>
              </a:rPr>
              <a:t>ViewModel</a:t>
            </a:r>
            <a:r>
              <a:rPr lang="ru-RU" sz="2800" dirty="0">
                <a:solidFill>
                  <a:schemeClr val="tx1"/>
                </a:solidFill>
              </a:rPr>
              <a:t> — связующее звено, хранит состояние экрана, обрабатывает события </a:t>
            </a:r>
            <a:r>
              <a:rPr lang="ru-RU" sz="2800" dirty="0" err="1">
                <a:solidFill>
                  <a:schemeClr val="tx1"/>
                </a:solidFill>
              </a:rPr>
              <a:t>View</a:t>
            </a:r>
            <a:r>
              <a:rPr lang="ru-RU" sz="2800" dirty="0">
                <a:solidFill>
                  <a:schemeClr val="tx1"/>
                </a:solidFill>
              </a:rPr>
              <a:t> и взаимодействует с </a:t>
            </a:r>
            <a:r>
              <a:rPr lang="ru-RU" sz="2800" dirty="0" err="1">
                <a:solidFill>
                  <a:schemeClr val="tx1"/>
                </a:solidFill>
              </a:rPr>
              <a:t>Model</a:t>
            </a:r>
            <a:r>
              <a:rPr lang="ru-RU" sz="2800" dirty="0">
                <a:solidFill>
                  <a:schemeClr val="tx1"/>
                </a:solidFill>
              </a:rPr>
              <a:t> через потоки данных (</a:t>
            </a:r>
            <a:r>
              <a:rPr lang="ru-RU" sz="2800" dirty="0" err="1">
                <a:solidFill>
                  <a:schemeClr val="tx1"/>
                </a:solidFill>
              </a:rPr>
              <a:t>LiveData</a:t>
            </a:r>
            <a:r>
              <a:rPr lang="ru-RU" sz="2800" dirty="0">
                <a:solidFill>
                  <a:schemeClr val="tx1"/>
                </a:solidFill>
              </a:rPr>
              <a:t>/</a:t>
            </a:r>
            <a:r>
              <a:rPr lang="ru-RU" sz="2800" dirty="0" err="1">
                <a:solidFill>
                  <a:schemeClr val="tx1"/>
                </a:solidFill>
              </a:rPr>
              <a:t>StateFlow</a:t>
            </a:r>
            <a:r>
              <a:rPr lang="ru-RU" sz="2800" dirty="0">
                <a:solidFill>
                  <a:schemeClr val="tx1"/>
                </a:solidFill>
              </a:rPr>
              <a:t>).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7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Архитектура приложения</a:t>
            </a:r>
          </a:p>
        </p:txBody>
      </p:sp>
    </p:spTree>
    <p:extLst>
      <p:ext uri="{BB962C8B-B14F-4D97-AF65-F5344CB8AC3E}">
        <p14:creationId xmlns:p14="http://schemas.microsoft.com/office/powerpoint/2010/main" val="994458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723802"/>
            <a:ext cx="10515599" cy="4743948"/>
          </a:xfrm>
        </p:spPr>
        <p:txBody>
          <a:bodyPr>
            <a:noAutofit/>
          </a:bodyPr>
          <a:lstStyle/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Схема базы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8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Архитектура приложения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A65AF92-B5C2-4EDE-A57E-12B44F8F8F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751" y="1387066"/>
            <a:ext cx="8032096" cy="5334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08990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3015"/>
            <a:ext cx="5528417" cy="4743948"/>
          </a:xfrm>
        </p:spPr>
        <p:txBody>
          <a:bodyPr>
            <a:normAutofit/>
          </a:bodyPr>
          <a:lstStyle/>
          <a:p>
            <a:pPr marL="0" indent="444500" algn="just">
              <a:buNone/>
            </a:pPr>
            <a:r>
              <a:rPr lang="ru-RU" sz="2800" dirty="0">
                <a:solidFill>
                  <a:schemeClr val="tx1"/>
                </a:solidFill>
              </a:rPr>
              <a:t>Слой </a:t>
            </a:r>
            <a:r>
              <a:rPr lang="en-US" sz="2800" dirty="0">
                <a:solidFill>
                  <a:schemeClr val="tx1"/>
                </a:solidFill>
              </a:rPr>
              <a:t>View</a:t>
            </a:r>
            <a:r>
              <a:rPr lang="ru-RU" sz="2800" dirty="0">
                <a:solidFill>
                  <a:schemeClr val="tx1"/>
                </a:solidFill>
              </a:rPr>
              <a:t> отвечает за отображение данных, полученных из </a:t>
            </a:r>
            <a:r>
              <a:rPr lang="en-US" sz="2800" dirty="0" err="1">
                <a:solidFill>
                  <a:schemeClr val="tx1"/>
                </a:solidFill>
              </a:rPr>
              <a:t>ViewModel</a:t>
            </a:r>
            <a:r>
              <a:rPr lang="en-US" sz="2800" dirty="0">
                <a:solidFill>
                  <a:schemeClr val="tx1"/>
                </a:solidFill>
              </a:rPr>
              <a:t>, </a:t>
            </a:r>
            <a:r>
              <a:rPr lang="ru-RU" sz="2800" dirty="0">
                <a:solidFill>
                  <a:schemeClr val="tx1"/>
                </a:solidFill>
              </a:rPr>
              <a:t>обработку пользовательских действий и отображение состояний.</a:t>
            </a:r>
          </a:p>
          <a:p>
            <a:pPr marL="0" indent="444500" algn="just">
              <a:buNone/>
            </a:pPr>
            <a:r>
              <a:rPr lang="ru-RU" sz="2800" dirty="0">
                <a:solidFill>
                  <a:schemeClr val="tx1"/>
                </a:solidFill>
              </a:rPr>
              <a:t>Основные компоненты:</a:t>
            </a:r>
          </a:p>
          <a:p>
            <a:pPr marL="0" indent="444500" algn="just"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 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Активности: входа, регистрации и главная.</a:t>
            </a:r>
          </a:p>
          <a:p>
            <a:pPr marL="0" indent="444500" algn="just"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Фрагменты: список задач, настройки.</a:t>
            </a:r>
            <a:endParaRPr lang="ru-RU" sz="2800" dirty="0">
              <a:solidFill>
                <a:schemeClr val="tx1"/>
              </a:solidFill>
            </a:endParaRPr>
          </a:p>
          <a:p>
            <a:pPr marL="0" indent="444500" algn="just">
              <a:buNone/>
            </a:pP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9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Слой </a:t>
            </a:r>
            <a:r>
              <a:rPr lang="en-US" dirty="0">
                <a:solidFill>
                  <a:schemeClr val="tx1"/>
                </a:solidFill>
              </a:rPr>
              <a:t>View </a:t>
            </a:r>
            <a:r>
              <a:rPr lang="ru-RU" dirty="0">
                <a:solidFill>
                  <a:schemeClr val="tx1"/>
                </a:solidFill>
              </a:rPr>
              <a:t>приложения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775BFC8-F7B6-41CF-A249-938FB218809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531" b="4531"/>
          <a:stretch/>
        </p:blipFill>
        <p:spPr>
          <a:xfrm>
            <a:off x="6735953" y="1572428"/>
            <a:ext cx="1994288" cy="40301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5BABD52-1812-4105-A3C3-8D432F8209D4}"/>
              </a:ext>
            </a:extLst>
          </p:cNvPr>
          <p:cNvSpPr txBox="1"/>
          <p:nvPr/>
        </p:nvSpPr>
        <p:spPr>
          <a:xfrm>
            <a:off x="6990001" y="5602556"/>
            <a:ext cx="1486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/>
              <a:t>Активность регистрации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09C4FC-874C-4ACB-AA40-321A3AB81BB1}"/>
              </a:ext>
            </a:extLst>
          </p:cNvPr>
          <p:cNvSpPr txBox="1"/>
          <p:nvPr/>
        </p:nvSpPr>
        <p:spPr>
          <a:xfrm>
            <a:off x="9910795" y="5602556"/>
            <a:ext cx="1486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/>
              <a:t>Главная активность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D8AEF4-BE5A-416A-BE6E-AA04962EAB29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9284898" y="2241750"/>
            <a:ext cx="2737986" cy="3191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8680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3015"/>
            <a:ext cx="10515599" cy="4743948"/>
          </a:xfrm>
        </p:spPr>
        <p:txBody>
          <a:bodyPr>
            <a:normAutofit lnSpcReduction="10000"/>
          </a:bodyPr>
          <a:lstStyle/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Слой </a:t>
            </a:r>
            <a:r>
              <a:rPr lang="en-US" sz="2800" dirty="0" err="1">
                <a:solidFill>
                  <a:schemeClr val="tx1"/>
                </a:solidFill>
              </a:rPr>
              <a:t>ViewModel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ru-RU" sz="2800" dirty="0">
                <a:solidFill>
                  <a:schemeClr val="tx1"/>
                </a:solidFill>
              </a:rPr>
              <a:t>отвечает за подготовку данных для UI и обработку пользовательских действий.</a:t>
            </a:r>
          </a:p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Основные компоненты:</a:t>
            </a:r>
          </a:p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</a:t>
            </a:r>
            <a:r>
              <a:rPr lang="ru-RU" altLang="ru-RU" sz="2800" dirty="0" err="1">
                <a:solidFill>
                  <a:schemeClr val="tx1"/>
                </a:solidFill>
              </a:rPr>
              <a:t>UiState</a:t>
            </a:r>
            <a:r>
              <a:rPr lang="ru-RU" altLang="ru-RU" sz="2800" dirty="0">
                <a:solidFill>
                  <a:schemeClr val="tx1"/>
                </a:solidFill>
              </a:rPr>
              <a:t> — </a:t>
            </a:r>
            <a:r>
              <a:rPr lang="ru-RU" altLang="ru-RU" sz="2800" dirty="0" err="1">
                <a:solidFill>
                  <a:schemeClr val="tx1"/>
                </a:solidFill>
              </a:rPr>
              <a:t>data</a:t>
            </a:r>
            <a:r>
              <a:rPr lang="ru-RU" altLang="ru-RU" sz="2800" dirty="0">
                <a:solidFill>
                  <a:schemeClr val="tx1"/>
                </a:solidFill>
              </a:rPr>
              <a:t> </a:t>
            </a:r>
            <a:r>
              <a:rPr lang="ru-RU" altLang="ru-RU" sz="2800" dirty="0" err="1">
                <a:solidFill>
                  <a:schemeClr val="tx1"/>
                </a:solidFill>
              </a:rPr>
              <a:t>class</a:t>
            </a:r>
            <a:r>
              <a:rPr lang="ru-RU" altLang="ru-RU" sz="2800" dirty="0">
                <a:solidFill>
                  <a:schemeClr val="tx1"/>
                </a:solidFill>
              </a:rPr>
              <a:t>, содержащий всё состояние экрана. Хранится в </a:t>
            </a:r>
            <a:r>
              <a:rPr lang="ru-RU" altLang="ru-RU" sz="2800" dirty="0" err="1">
                <a:solidFill>
                  <a:schemeClr val="tx1"/>
                </a:solidFill>
              </a:rPr>
              <a:t>LiveData</a:t>
            </a:r>
            <a:r>
              <a:rPr lang="ru-RU" altLang="ru-RU" sz="2800" dirty="0">
                <a:solidFill>
                  <a:schemeClr val="tx1"/>
                </a:solidFill>
              </a:rPr>
              <a:t> для автоматического обновления UI.</a:t>
            </a:r>
            <a:endParaRPr lang="ru-RU" sz="2800" dirty="0">
              <a:solidFill>
                <a:schemeClr val="tx1"/>
              </a:solidFill>
              <a:cs typeface="Times New Roman"/>
            </a:endParaRPr>
          </a:p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</a:t>
            </a:r>
            <a:r>
              <a:rPr lang="ru-RU" sz="2800" dirty="0" err="1">
                <a:solidFill>
                  <a:schemeClr val="tx1"/>
                </a:solidFill>
              </a:rPr>
              <a:t>Use</a:t>
            </a:r>
            <a:r>
              <a:rPr lang="ru-RU" sz="2800" dirty="0">
                <a:solidFill>
                  <a:schemeClr val="tx1"/>
                </a:solidFill>
              </a:rPr>
              <a:t> </a:t>
            </a:r>
            <a:r>
              <a:rPr lang="ru-RU" sz="2800" dirty="0" err="1">
                <a:solidFill>
                  <a:schemeClr val="tx1"/>
                </a:solidFill>
              </a:rPr>
              <a:t>Cases</a:t>
            </a:r>
            <a:r>
              <a:rPr lang="ru-RU" sz="2800" dirty="0">
                <a:solidFill>
                  <a:schemeClr val="tx1"/>
                </a:solidFill>
              </a:rPr>
              <a:t> — инкапсулируют бизнес-логику и вызываются из </a:t>
            </a:r>
            <a:r>
              <a:rPr lang="ru-RU" sz="2800" dirty="0" err="1">
                <a:solidFill>
                  <a:schemeClr val="tx1"/>
                </a:solidFill>
              </a:rPr>
              <a:t>ViewModel</a:t>
            </a:r>
            <a:r>
              <a:rPr lang="ru-RU" sz="2800" dirty="0">
                <a:solidFill>
                  <a:schemeClr val="tx1"/>
                </a:solidFill>
              </a:rPr>
              <a:t> для выполнения операций.</a:t>
            </a:r>
            <a:endParaRPr lang="ru-RU" sz="2800" dirty="0">
              <a:solidFill>
                <a:schemeClr val="tx1"/>
              </a:solidFill>
              <a:cs typeface="Times New Roman"/>
            </a:endParaRPr>
          </a:p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</a:t>
            </a:r>
            <a:r>
              <a:rPr lang="en-US" sz="2800" dirty="0" err="1">
                <a:solidFill>
                  <a:schemeClr val="tx1"/>
                </a:solidFill>
              </a:rPr>
              <a:t>viewModelScope</a:t>
            </a:r>
            <a:r>
              <a:rPr lang="en-US" sz="2800" dirty="0">
                <a:solidFill>
                  <a:schemeClr val="tx1"/>
                </a:solidFill>
              </a:rPr>
              <a:t>.</a:t>
            </a:r>
            <a:endParaRPr lang="ru-RU" sz="2800" dirty="0">
              <a:solidFill>
                <a:schemeClr val="tx1"/>
              </a:solidFill>
              <a:cs typeface="Times New Roman"/>
            </a:endParaRPr>
          </a:p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Методы для обработки действий запускают </a:t>
            </a:r>
            <a:r>
              <a:rPr lang="ru-RU" sz="2800" dirty="0" err="1">
                <a:solidFill>
                  <a:schemeClr val="tx1"/>
                </a:solidFill>
                <a:cs typeface="Times New Roman"/>
              </a:rPr>
              <a:t>корутины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, вызывают 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use case 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и обновляют </a:t>
            </a:r>
            <a:r>
              <a:rPr lang="en-US" sz="2800" dirty="0" err="1">
                <a:solidFill>
                  <a:schemeClr val="tx1"/>
                </a:solidFill>
                <a:cs typeface="Times New Roman"/>
              </a:rPr>
              <a:t>UiState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.</a:t>
            </a:r>
            <a:endParaRPr lang="ru-RU" sz="2800" dirty="0">
              <a:solidFill>
                <a:schemeClr val="tx1"/>
              </a:solidFill>
            </a:endParaRPr>
          </a:p>
          <a:p>
            <a:pPr marL="0" indent="444500" algn="just">
              <a:lnSpc>
                <a:spcPct val="100000"/>
              </a:lnSpc>
              <a:buNone/>
            </a:pP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10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Слой </a:t>
            </a:r>
            <a:r>
              <a:rPr lang="en-US" dirty="0" err="1">
                <a:solidFill>
                  <a:schemeClr val="tx1"/>
                </a:solidFill>
              </a:rPr>
              <a:t>ViewModel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ru-RU" dirty="0">
                <a:solidFill>
                  <a:schemeClr val="tx1"/>
                </a:solidFill>
              </a:rPr>
              <a:t>приложения</a:t>
            </a:r>
          </a:p>
        </p:txBody>
      </p:sp>
    </p:spTree>
    <p:extLst>
      <p:ext uri="{BB962C8B-B14F-4D97-AF65-F5344CB8AC3E}">
        <p14:creationId xmlns:p14="http://schemas.microsoft.com/office/powerpoint/2010/main" val="1124451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3015"/>
            <a:ext cx="10515599" cy="4743948"/>
          </a:xfrm>
        </p:spPr>
        <p:txBody>
          <a:bodyPr>
            <a:normAutofit/>
          </a:bodyPr>
          <a:lstStyle/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Слой </a:t>
            </a:r>
            <a:r>
              <a:rPr lang="en-US" sz="2800" dirty="0">
                <a:solidFill>
                  <a:schemeClr val="tx1"/>
                </a:solidFill>
              </a:rPr>
              <a:t>Model </a:t>
            </a:r>
            <a:r>
              <a:rPr lang="ru-RU" sz="2800" dirty="0">
                <a:solidFill>
                  <a:schemeClr val="tx1"/>
                </a:solidFill>
              </a:rPr>
              <a:t>состоит из:</a:t>
            </a:r>
          </a:p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Репозиториев (интерфейсы и их реализации). Примеры: </a:t>
            </a:r>
            <a:r>
              <a:rPr lang="en-US" sz="2800" dirty="0" err="1">
                <a:solidFill>
                  <a:schemeClr val="tx1"/>
                </a:solidFill>
                <a:cs typeface="Times New Roman"/>
              </a:rPr>
              <a:t>AuthRepository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, </a:t>
            </a:r>
            <a:r>
              <a:rPr lang="en-US" sz="2800" dirty="0" err="1">
                <a:solidFill>
                  <a:schemeClr val="tx1"/>
                </a:solidFill>
                <a:cs typeface="Times New Roman"/>
              </a:rPr>
              <a:t>TaskRepository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. 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Реализации интерфейсов используют </a:t>
            </a:r>
            <a:r>
              <a:rPr lang="en-US" sz="2800" dirty="0" err="1">
                <a:solidFill>
                  <a:schemeClr val="tx1"/>
                </a:solidFill>
                <a:cs typeface="Times New Roman"/>
              </a:rPr>
              <a:t>Supabase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 Client 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для работы с локальной БД и аутентификацией.</a:t>
            </a:r>
          </a:p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Use Cases – 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инкапсулируют бизнес-логику и вызывают соответствующие методы репозиториев. Каждый сценарий представлен отдельным классом, что упрощает тестирование и повторное использование.</a:t>
            </a:r>
            <a:endParaRPr lang="ru-RU" sz="2800" dirty="0">
              <a:solidFill>
                <a:schemeClr val="tx1"/>
              </a:solidFill>
            </a:endParaRPr>
          </a:p>
          <a:p>
            <a:pPr marL="0" indent="0" algn="just">
              <a:lnSpc>
                <a:spcPct val="100000"/>
              </a:lnSpc>
              <a:buNone/>
            </a:pP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11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Слой </a:t>
            </a:r>
            <a:r>
              <a:rPr lang="en-US" dirty="0">
                <a:solidFill>
                  <a:schemeClr val="tx1"/>
                </a:solidFill>
              </a:rPr>
              <a:t>Model </a:t>
            </a:r>
            <a:r>
              <a:rPr lang="ru-RU" dirty="0">
                <a:solidFill>
                  <a:schemeClr val="tx1"/>
                </a:solidFill>
              </a:rPr>
              <a:t>приложения</a:t>
            </a:r>
          </a:p>
        </p:txBody>
      </p:sp>
    </p:spTree>
    <p:extLst>
      <p:ext uri="{BB962C8B-B14F-4D97-AF65-F5344CB8AC3E}">
        <p14:creationId xmlns:p14="http://schemas.microsoft.com/office/powerpoint/2010/main" val="13622046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12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Оформление приложения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6FD7D24-DBB6-48FE-8BAF-240A03D2CF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43216" y="2947594"/>
            <a:ext cx="1828800" cy="18288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FC7F09D-C56E-4049-9EE3-CCFFCCC6AADB}"/>
              </a:ext>
            </a:extLst>
          </p:cNvPr>
          <p:cNvSpPr txBox="1"/>
          <p:nvPr/>
        </p:nvSpPr>
        <p:spPr>
          <a:xfrm>
            <a:off x="10504232" y="4776394"/>
            <a:ext cx="13067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dirty="0"/>
              <a:t>Иконка</a:t>
            </a:r>
          </a:p>
          <a:p>
            <a:pPr algn="ctr"/>
            <a:r>
              <a:rPr lang="ru-RU" sz="1600" dirty="0"/>
              <a:t>приложения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AA80E0-99FD-468A-8DCC-C6819056E421}"/>
              </a:ext>
            </a:extLst>
          </p:cNvPr>
          <p:cNvSpPr txBox="1"/>
          <p:nvPr/>
        </p:nvSpPr>
        <p:spPr>
          <a:xfrm>
            <a:off x="838199" y="1445948"/>
            <a:ext cx="940501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44500" algn="just"/>
            <a:r>
              <a:rPr lang="ru-RU" sz="2800" dirty="0"/>
              <a:t>Электронная подпись приложения с помощью </a:t>
            </a:r>
            <a:r>
              <a:rPr lang="en-US" sz="2800" dirty="0" err="1"/>
              <a:t>apksigner</a:t>
            </a:r>
            <a:r>
              <a:rPr lang="en-US" sz="2800" dirty="0"/>
              <a:t>:</a:t>
            </a:r>
          </a:p>
          <a:p>
            <a:pPr indent="444500" algn="just"/>
            <a:r>
              <a:rPr lang="en-US" sz="2800" dirty="0"/>
              <a:t>Verifies</a:t>
            </a:r>
          </a:p>
          <a:p>
            <a:pPr indent="444500" algn="just"/>
            <a:r>
              <a:rPr lang="en-US" sz="2800" dirty="0"/>
              <a:t>Verified using v1 scheme (JAR signing): false</a:t>
            </a:r>
          </a:p>
          <a:p>
            <a:pPr indent="444500" algn="just"/>
            <a:r>
              <a:rPr lang="en-US" sz="2800" dirty="0"/>
              <a:t>Verified using v2 scheme (APK Signature Scheme v2): true</a:t>
            </a:r>
          </a:p>
          <a:p>
            <a:pPr indent="444500" algn="just"/>
            <a:r>
              <a:rPr lang="en-US" sz="2800" dirty="0"/>
              <a:t>Verified using v3 scheme (APK Signature Scheme v3): false</a:t>
            </a:r>
          </a:p>
          <a:p>
            <a:pPr indent="444500" algn="just"/>
            <a:r>
              <a:rPr lang="en-US" sz="2800" dirty="0"/>
              <a:t>Verified using v3.1 scheme (APK Signature Scheme v3.1): false</a:t>
            </a:r>
          </a:p>
          <a:p>
            <a:pPr indent="444500" algn="just"/>
            <a:r>
              <a:rPr lang="en-US" sz="2800" dirty="0"/>
              <a:t>Verified using v4 scheme (APK Signature Scheme v4): false</a:t>
            </a:r>
          </a:p>
          <a:p>
            <a:pPr indent="444500" algn="just"/>
            <a:r>
              <a:rPr lang="en-US" sz="2800" dirty="0"/>
              <a:t>Verified for </a:t>
            </a:r>
            <a:r>
              <a:rPr lang="en-US" sz="2800" dirty="0" err="1"/>
              <a:t>SourceStamp</a:t>
            </a:r>
            <a:r>
              <a:rPr lang="en-US" sz="2800" dirty="0"/>
              <a:t>: false</a:t>
            </a:r>
          </a:p>
          <a:p>
            <a:pPr indent="444500" algn="just"/>
            <a:r>
              <a:rPr lang="en-US" sz="2800" dirty="0"/>
              <a:t>Number of signers: 1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23179310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>
            <a:extLst>
              <a:ext uri="{FF2B5EF4-FFF2-40B4-BE49-F238E27FC236}">
                <a16:creationId xmlns:a16="http://schemas.microsoft.com/office/drawing/2014/main" id="{CA127083-7008-4D3F-A009-5341507D6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3015"/>
            <a:ext cx="10515600" cy="4743948"/>
          </a:xfrm>
        </p:spPr>
        <p:txBody>
          <a:bodyPr>
            <a:normAutofit/>
          </a:bodyPr>
          <a:lstStyle/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</a:rPr>
              <a:t>В ходе работы было реализовано </a:t>
            </a:r>
            <a:r>
              <a:rPr lang="en-US" sz="2800" dirty="0">
                <a:solidFill>
                  <a:schemeClr val="tx1"/>
                </a:solidFill>
              </a:rPr>
              <a:t>Android-</a:t>
            </a:r>
            <a:r>
              <a:rPr lang="ru-RU" sz="2800" dirty="0">
                <a:solidFill>
                  <a:schemeClr val="tx1"/>
                </a:solidFill>
              </a:rPr>
              <a:t>приложение интернет магазина с чистой архитектурой </a:t>
            </a:r>
            <a:r>
              <a:rPr lang="en-US" sz="2800" dirty="0">
                <a:solidFill>
                  <a:schemeClr val="tx1"/>
                </a:solidFill>
              </a:rPr>
              <a:t>MVVM</a:t>
            </a:r>
            <a:r>
              <a:rPr lang="ru-RU" sz="2800" dirty="0">
                <a:solidFill>
                  <a:schemeClr val="tx1"/>
                </a:solidFill>
              </a:rPr>
              <a:t>, которое имеет следующие возможности:</a:t>
            </a:r>
          </a:p>
          <a:p>
            <a:pPr marL="0" indent="444500" algn="just">
              <a:lnSpc>
                <a:spcPct val="10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</a:t>
            </a:r>
            <a:r>
              <a:rPr lang="en-US" sz="2800" dirty="0">
                <a:solidFill>
                  <a:schemeClr val="tx1"/>
                </a:solidFill>
                <a:cs typeface="Times New Roman"/>
              </a:rPr>
              <a:t> 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Регистрация и вход.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Просмотр списка текущих задач (ремонтов).</a:t>
            </a:r>
          </a:p>
          <a:p>
            <a:pPr marL="0" indent="444500" algn="just">
              <a:lnSpc>
                <a:spcPct val="150000"/>
              </a:lnSpc>
              <a:buNone/>
            </a:pPr>
            <a:r>
              <a:rPr lang="ru-RU" sz="2800" dirty="0">
                <a:solidFill>
                  <a:schemeClr val="tx1"/>
                </a:solidFill>
                <a:cs typeface="Times New Roman"/>
              </a:rPr>
              <a:t>– Хранение данных в удаленной </a:t>
            </a:r>
            <a:r>
              <a:rPr lang="ru-RU" sz="2800" dirty="0" err="1">
                <a:solidFill>
                  <a:schemeClr val="tx1"/>
                </a:solidFill>
                <a:cs typeface="Times New Roman"/>
              </a:rPr>
              <a:t>PostgreSQL</a:t>
            </a:r>
            <a:r>
              <a:rPr lang="ru-RU" sz="2800" dirty="0">
                <a:solidFill>
                  <a:schemeClr val="tx1"/>
                </a:solidFill>
                <a:cs typeface="Times New Roman"/>
              </a:rPr>
              <a:t> базе.</a:t>
            </a:r>
            <a:endParaRPr lang="ru-RU" sz="2800" dirty="0">
              <a:solidFill>
                <a:schemeClr val="tx1"/>
              </a:solidFill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12A693-A569-42B5-9223-57DEA548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70AAFC-F658-4D4F-B37E-DA3BC9CB41D6}" type="slidenum">
              <a:rPr lang="ru-RU" smtClean="0">
                <a:solidFill>
                  <a:schemeClr val="tx1"/>
                </a:solidFill>
              </a:rPr>
              <a:pPr/>
              <a:t>13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067A9869-D318-409C-BBED-79CBA5856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Заключение</a:t>
            </a:r>
          </a:p>
        </p:txBody>
      </p:sp>
    </p:spTree>
    <p:extLst>
      <p:ext uri="{BB962C8B-B14F-4D97-AF65-F5344CB8AC3E}">
        <p14:creationId xmlns:p14="http://schemas.microsoft.com/office/powerpoint/2010/main" val="29881595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1D0B3C-4330-775A-D8A5-7BDDA7A225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700" y="190501"/>
            <a:ext cx="11658600" cy="1276349"/>
          </a:xfrm>
        </p:spPr>
        <p:txBody>
          <a:bodyPr>
            <a:norm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МИНОБРНАУКИ РОССИИ ФЕДЕРАЛЬНОЕ ГОСУДАРСТВЕННОЕ БЮДЖЕТНОЕ ОБРАЗОВАТЕЛЬНОЕ УЧРЕЖДЕНИЕ ВЫСШЕГО ОБРАЗОВАНИЯ «ВОРОНЕЖСКИЙ ГОСУДАРСТВЕННЫЙ УНИВЕРСИТЕТ» (ФГБОУ ВО «ВГУ») 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41DE144-93D5-2280-8A77-9356B71E1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05000"/>
            <a:ext cx="9144000" cy="703911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Факультет компьютерных наук 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программирования и информационных технологий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2847BE-98AB-59E3-A177-3FA39E069FD2}"/>
              </a:ext>
            </a:extLst>
          </p:cNvPr>
          <p:cNvSpPr txBox="1"/>
          <p:nvPr/>
        </p:nvSpPr>
        <p:spPr>
          <a:xfrm>
            <a:off x="485775" y="3047061"/>
            <a:ext cx="11220450" cy="6132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ru-RU" sz="3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Разработка приложения для работника автосервиса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28718-D8F8-BF9A-8013-0211D7649721}"/>
              </a:ext>
            </a:extLst>
          </p:cNvPr>
          <p:cNvSpPr txBox="1"/>
          <p:nvPr/>
        </p:nvSpPr>
        <p:spPr>
          <a:xfrm>
            <a:off x="6838950" y="5225534"/>
            <a:ext cx="508635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руководитель: Ушаков В.А.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Выполнил: Селютин Р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315317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1004</TotalTime>
  <Words>561</Words>
  <Application>Microsoft Office PowerPoint</Application>
  <PresentationFormat>Широкоэкранный</PresentationFormat>
  <Paragraphs>79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Calibri</vt:lpstr>
      <vt:lpstr>Arial</vt:lpstr>
      <vt:lpstr>Times New Roman</vt:lpstr>
      <vt:lpstr>Calibri Light</vt:lpstr>
      <vt:lpstr>Тема Office</vt:lpstr>
      <vt:lpstr>МИНОБРНАУКИ РОССИИ ФЕДЕРАЛЬНОЕ ГОСУДАРСТВЕННОЕ БЮДЖЕТНОЕ ОБРАЗОВАТЕЛЬНОЕ УЧРЕЖДЕНИЕ ВЫСШЕГО ОБРАЗОВАНИЯ «ВОРОНЕЖСКИЙ ГОСУДАРСТВЕННЫЙ УНИВЕРСИТЕТ» (ФГБОУ ВО «ВГУ») </vt:lpstr>
      <vt:lpstr>Актуальность</vt:lpstr>
      <vt:lpstr>Постановка задачи</vt:lpstr>
      <vt:lpstr>Обзор аналогов</vt:lpstr>
      <vt:lpstr>Обзор аналогов</vt:lpstr>
      <vt:lpstr>Средства реализации</vt:lpstr>
      <vt:lpstr>Архитектура приложения</vt:lpstr>
      <vt:lpstr>Архитектура приложения</vt:lpstr>
      <vt:lpstr>Слой View приложения</vt:lpstr>
      <vt:lpstr>Слой ViewModel приложения</vt:lpstr>
      <vt:lpstr>Слой Model приложения</vt:lpstr>
      <vt:lpstr>Оформление приложения</vt:lpstr>
      <vt:lpstr>Заключение</vt:lpstr>
      <vt:lpstr>МИНОБРНАУКИ РОССИИ ФЕДЕРАЛЬНОЕ ГОСУДАРСТВЕННОЕ БЮДЖЕТНОЕ ОБРАЗОВАТЕЛЬНОЕ УЧРЕЖДЕНИЕ ВЫСШЕГО ОБРАЗОВАНИЯ «ВОРОНЕЖСКИЙ ГОСУДАРСТВЕННЫЙ УНИВЕРСИТЕТ» (ФГБОУ ВО «ВГУ»)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SAMSUNG IT Academy Kotlin Course</dc:title>
  <dc:creator>Roman Lesovoy</dc:creator>
  <cp:lastModifiedBy>Ратмир Селютин</cp:lastModifiedBy>
  <cp:revision>26</cp:revision>
  <dcterms:created xsi:type="dcterms:W3CDTF">2020-10-18T13:39:56Z</dcterms:created>
  <dcterms:modified xsi:type="dcterms:W3CDTF">2026-06-06T05:28:28Z</dcterms:modified>
</cp:coreProperties>
</file>