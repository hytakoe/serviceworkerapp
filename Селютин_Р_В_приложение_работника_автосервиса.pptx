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comments/comment1.xml" ContentType="application/vnd.openxmlformats-officedocument.presentationml.comment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autoCompressPictures="0">
  <p:sldMasterIdLst>
    <p:sldMasterId id="2147483860" r:id="rId1"/>
  </p:sldMasterIdLst>
  <p:notesMasterIdLst>
    <p:notesMasterId r:id="rId14"/>
  </p:notesMasterIdLst>
  <p:sldIdLst>
    <p:sldId id="256" r:id="rId2"/>
    <p:sldId id="270" r:id="rId3"/>
    <p:sldId id="258" r:id="rId4"/>
    <p:sldId id="268" r:id="rId5"/>
    <p:sldId id="269" r:id="rId6"/>
    <p:sldId id="259" r:id="rId7"/>
    <p:sldId id="260" r:id="rId8"/>
    <p:sldId id="267" r:id="rId9"/>
    <p:sldId id="263" r:id="rId10"/>
    <p:sldId id="272" r:id="rId11"/>
    <p:sldId id="266" r:id="rId12"/>
    <p:sldId id="271" r:id="rId13"/>
  </p:sldIdLst>
  <p:sldSz cx="12192000" cy="6858000"/>
  <p:notesSz cx="6858000" cy="9144000"/>
  <p:embeddedFontLs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alibri Light" panose="020F0302020204030204" pitchFamily="34" charset="0"/>
      <p:regular r:id="rId19"/>
      <p:italic r:id="rId20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Василий Ерохов" initials="ВЕ" lastIdx="1" clrIdx="0">
    <p:extLst>
      <p:ext uri="{19B8F6BF-5375-455C-9EA6-DF929625EA0E}">
        <p15:presenceInfo xmlns:p15="http://schemas.microsoft.com/office/powerpoint/2012/main" userId="48e187d55a52ef7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497A"/>
    <a:srgbClr val="3094FF"/>
    <a:srgbClr val="5DCDFF"/>
    <a:srgbClr val="0071BC"/>
    <a:srgbClr val="A0E5FE"/>
    <a:srgbClr val="8864FF"/>
    <a:srgbClr val="00AFFF"/>
    <a:srgbClr val="F98413"/>
    <a:srgbClr val="CC5BAB"/>
    <a:srgbClr val="905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commentAuthors" Target="comment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3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2.fntdata"/><Relationship Id="rId20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1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5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Relationship Id="rId22" Type="http://schemas.openxmlformats.org/officeDocument/2006/relationships/presProps" Target="presProp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3-06T18:16:26.164" idx="1">
    <p:pos x="10" y="10"/>
    <p:text/>
    <p:extLst>
      <p:ext uri="{C676402C-5697-4E1C-873F-D02D1690AC5C}">
        <p15:threadingInfo xmlns:p15="http://schemas.microsoft.com/office/powerpoint/2012/main" timeZoneBias="-1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3D64DB-6921-4E89-BB57-DA51E8424924}" type="datetimeFigureOut">
              <a:rPr lang="ru-RU" smtClean="0"/>
              <a:t>06.06.2026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E69ED0C-BBFD-4690-9EF1-F32FDBA46F7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182466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FC939D8-B06C-4D28-85A9-A24D767C76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EF6DE5F0-C4C0-4F98-B424-BE302BF1E7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A9B213C-5DED-496C-8C3E-2D7B53AFF4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7EAA33C-D3B5-4099-A825-C32915E062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90DE81A3-5130-49C5-9921-1C11FBCC2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C0B5485-700A-46CD-BCBE-903F011122A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" t="5479" r="30931" b="31085"/>
          <a:stretch/>
        </p:blipFill>
        <p:spPr>
          <a:xfrm>
            <a:off x="3323205" y="0"/>
            <a:ext cx="8868796" cy="685800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CE6B7971-BD5E-49D4-A8C6-0F96A45E0F8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82200" y="0"/>
            <a:ext cx="2153465" cy="121132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54EDABEC-710C-4631-80AE-DBECFBA24D2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371" r="11861"/>
          <a:stretch/>
        </p:blipFill>
        <p:spPr>
          <a:xfrm>
            <a:off x="645730" y="980905"/>
            <a:ext cx="4874788" cy="5196502"/>
          </a:xfrm>
          <a:prstGeom prst="rect">
            <a:avLst/>
          </a:prstGeom>
        </p:spPr>
      </p:pic>
      <p:sp>
        <p:nvSpPr>
          <p:cNvPr id="10" name="Прямоугольный треугольник 9">
            <a:extLst>
              <a:ext uri="{FF2B5EF4-FFF2-40B4-BE49-F238E27FC236}">
                <a16:creationId xmlns:a16="http://schemas.microsoft.com/office/drawing/2014/main" id="{E68CFDD1-9418-446D-AA51-70006F6A4471}"/>
              </a:ext>
            </a:extLst>
          </p:cNvPr>
          <p:cNvSpPr/>
          <p:nvPr userDrawn="1"/>
        </p:nvSpPr>
        <p:spPr>
          <a:xfrm rot="8100000">
            <a:off x="813790" y="107908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Прямоугольный треугольник 10">
            <a:extLst>
              <a:ext uri="{FF2B5EF4-FFF2-40B4-BE49-F238E27FC236}">
                <a16:creationId xmlns:a16="http://schemas.microsoft.com/office/drawing/2014/main" id="{E5980851-24CC-420E-82B1-347F6920512A}"/>
              </a:ext>
            </a:extLst>
          </p:cNvPr>
          <p:cNvSpPr/>
          <p:nvPr userDrawn="1"/>
        </p:nvSpPr>
        <p:spPr>
          <a:xfrm rot="8100000">
            <a:off x="724981" y="2206207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5BC52F9E-16F9-475B-AEA0-68FEF376BFC1}"/>
              </a:ext>
            </a:extLst>
          </p:cNvPr>
          <p:cNvSpPr/>
          <p:nvPr userDrawn="1"/>
        </p:nvSpPr>
        <p:spPr>
          <a:xfrm rot="13500000">
            <a:off x="4246229" y="1668722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3" name="Прямоугольный треугольник 12">
            <a:extLst>
              <a:ext uri="{FF2B5EF4-FFF2-40B4-BE49-F238E27FC236}">
                <a16:creationId xmlns:a16="http://schemas.microsoft.com/office/drawing/2014/main" id="{8D8CDD1A-4AA8-456C-9D3F-43A7D20D1F76}"/>
              </a:ext>
            </a:extLst>
          </p:cNvPr>
          <p:cNvSpPr/>
          <p:nvPr userDrawn="1"/>
        </p:nvSpPr>
        <p:spPr>
          <a:xfrm rot="13500000">
            <a:off x="241646" y="5444620"/>
            <a:ext cx="627903" cy="627903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Прямоугольный треугольник 13">
            <a:extLst>
              <a:ext uri="{FF2B5EF4-FFF2-40B4-BE49-F238E27FC236}">
                <a16:creationId xmlns:a16="http://schemas.microsoft.com/office/drawing/2014/main" id="{EB5B3724-BD3B-420B-A812-8BF79B54C873}"/>
              </a:ext>
            </a:extLst>
          </p:cNvPr>
          <p:cNvSpPr/>
          <p:nvPr userDrawn="1"/>
        </p:nvSpPr>
        <p:spPr>
          <a:xfrm rot="8100000">
            <a:off x="3490418" y="718813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36D3C31F-050F-4D76-AFBF-19B8A8DFC3F7}"/>
              </a:ext>
            </a:extLst>
          </p:cNvPr>
          <p:cNvSpPr/>
          <p:nvPr userDrawn="1"/>
        </p:nvSpPr>
        <p:spPr>
          <a:xfrm rot="8100000">
            <a:off x="3688713" y="5151587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олилиния: фигура 15">
            <a:extLst>
              <a:ext uri="{FF2B5EF4-FFF2-40B4-BE49-F238E27FC236}">
                <a16:creationId xmlns:a16="http://schemas.microsoft.com/office/drawing/2014/main" id="{7C113770-E1A8-4828-9BF0-4B1D3932214C}"/>
              </a:ext>
            </a:extLst>
          </p:cNvPr>
          <p:cNvSpPr/>
          <p:nvPr userDrawn="1"/>
        </p:nvSpPr>
        <p:spPr>
          <a:xfrm>
            <a:off x="5853521" y="573125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олилиния: фигура 16">
            <a:extLst>
              <a:ext uri="{FF2B5EF4-FFF2-40B4-BE49-F238E27FC236}">
                <a16:creationId xmlns:a16="http://schemas.microsoft.com/office/drawing/2014/main" id="{6D8C2A9E-410E-440C-B7A7-A8F0E9570030}"/>
              </a:ext>
            </a:extLst>
          </p:cNvPr>
          <p:cNvSpPr/>
          <p:nvPr userDrawn="1"/>
        </p:nvSpPr>
        <p:spPr>
          <a:xfrm>
            <a:off x="1130668" y="3065167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18" name="Полилиния: фигура 17">
            <a:extLst>
              <a:ext uri="{FF2B5EF4-FFF2-40B4-BE49-F238E27FC236}">
                <a16:creationId xmlns:a16="http://schemas.microsoft.com/office/drawing/2014/main" id="{950D9DB2-AF44-4605-836C-78340D912B85}"/>
              </a:ext>
            </a:extLst>
          </p:cNvPr>
          <p:cNvSpPr/>
          <p:nvPr userDrawn="1"/>
        </p:nvSpPr>
        <p:spPr>
          <a:xfrm>
            <a:off x="3245400" y="1701670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34925">
            <a:gradFill>
              <a:gsLst>
                <a:gs pos="0">
                  <a:srgbClr val="00AFFF"/>
                </a:gs>
                <a:gs pos="100000">
                  <a:srgbClr val="8864FF"/>
                </a:gs>
              </a:gsLst>
              <a:lin ang="78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9" name="Полилиния: фигура 18">
            <a:extLst>
              <a:ext uri="{FF2B5EF4-FFF2-40B4-BE49-F238E27FC236}">
                <a16:creationId xmlns:a16="http://schemas.microsoft.com/office/drawing/2014/main" id="{4332A32A-BF9B-445B-B8E2-A4BF604281E2}"/>
              </a:ext>
            </a:extLst>
          </p:cNvPr>
          <p:cNvSpPr/>
          <p:nvPr userDrawn="1"/>
        </p:nvSpPr>
        <p:spPr>
          <a:xfrm>
            <a:off x="1356679" y="5404154"/>
            <a:ext cx="556958" cy="75216"/>
          </a:xfrm>
          <a:custGeom>
            <a:avLst/>
            <a:gdLst>
              <a:gd name="connsiteX0" fmla="*/ 0 w 2122226"/>
              <a:gd name="connsiteY0" fmla="*/ 286603 h 286603"/>
              <a:gd name="connsiteX1" fmla="*/ 197892 w 2122226"/>
              <a:gd name="connsiteY1" fmla="*/ 6824 h 286603"/>
              <a:gd name="connsiteX2" fmla="*/ 470847 w 2122226"/>
              <a:gd name="connsiteY2" fmla="*/ 279779 h 286603"/>
              <a:gd name="connsiteX3" fmla="*/ 736978 w 2122226"/>
              <a:gd name="connsiteY3" fmla="*/ 13648 h 286603"/>
              <a:gd name="connsiteX4" fmla="*/ 975814 w 2122226"/>
              <a:gd name="connsiteY4" fmla="*/ 252484 h 286603"/>
              <a:gd name="connsiteX5" fmla="*/ 1228298 w 2122226"/>
              <a:gd name="connsiteY5" fmla="*/ 0 h 286603"/>
              <a:gd name="connsiteX6" fmla="*/ 1480782 w 2122226"/>
              <a:gd name="connsiteY6" fmla="*/ 252484 h 286603"/>
              <a:gd name="connsiteX7" fmla="*/ 1726442 w 2122226"/>
              <a:gd name="connsiteY7" fmla="*/ 6824 h 286603"/>
              <a:gd name="connsiteX8" fmla="*/ 1972102 w 2122226"/>
              <a:gd name="connsiteY8" fmla="*/ 252484 h 286603"/>
              <a:gd name="connsiteX9" fmla="*/ 2122226 w 2122226"/>
              <a:gd name="connsiteY9" fmla="*/ 20472 h 286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2122226" h="286603">
                <a:moveTo>
                  <a:pt x="0" y="286603"/>
                </a:moveTo>
                <a:lnTo>
                  <a:pt x="197892" y="6824"/>
                </a:lnTo>
                <a:lnTo>
                  <a:pt x="470847" y="279779"/>
                </a:lnTo>
                <a:lnTo>
                  <a:pt x="736978" y="13648"/>
                </a:lnTo>
                <a:lnTo>
                  <a:pt x="975814" y="252484"/>
                </a:lnTo>
                <a:lnTo>
                  <a:pt x="1228298" y="0"/>
                </a:lnTo>
                <a:lnTo>
                  <a:pt x="1480782" y="252484"/>
                </a:lnTo>
                <a:lnTo>
                  <a:pt x="1726442" y="6824"/>
                </a:lnTo>
                <a:lnTo>
                  <a:pt x="1972102" y="252484"/>
                </a:lnTo>
                <a:lnTo>
                  <a:pt x="2122226" y="20472"/>
                </a:lnTo>
              </a:path>
            </a:pathLst>
          </a:custGeom>
          <a:noFill/>
          <a:ln w="476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8400000" scaled="0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algn="ctr"/>
            <a:endParaRPr lang="ru-RU"/>
          </a:p>
        </p:txBody>
      </p:sp>
      <p:sp>
        <p:nvSpPr>
          <p:cNvPr id="20" name="Прямоугольный треугольник 19">
            <a:extLst>
              <a:ext uri="{FF2B5EF4-FFF2-40B4-BE49-F238E27FC236}">
                <a16:creationId xmlns:a16="http://schemas.microsoft.com/office/drawing/2014/main" id="{06378CCE-C016-45BF-B5E0-62ED88DC1FC2}"/>
              </a:ext>
            </a:extLst>
          </p:cNvPr>
          <p:cNvSpPr/>
          <p:nvPr userDrawn="1"/>
        </p:nvSpPr>
        <p:spPr>
          <a:xfrm rot="18900000">
            <a:off x="2386678" y="5706960"/>
            <a:ext cx="340269" cy="340269"/>
          </a:xfrm>
          <a:prstGeom prst="rtTriangle">
            <a:avLst/>
          </a:prstGeom>
          <a:noFill/>
          <a:ln w="8572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1" name="Прямоугольный треугольник 20">
            <a:extLst>
              <a:ext uri="{FF2B5EF4-FFF2-40B4-BE49-F238E27FC236}">
                <a16:creationId xmlns:a16="http://schemas.microsoft.com/office/drawing/2014/main" id="{F78E0547-33BD-4887-8FE5-56EBB04AE2AA}"/>
              </a:ext>
            </a:extLst>
          </p:cNvPr>
          <p:cNvSpPr/>
          <p:nvPr userDrawn="1"/>
        </p:nvSpPr>
        <p:spPr>
          <a:xfrm rot="18900000">
            <a:off x="4710131" y="5536795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4A3E6414-F77C-485A-91F7-64190978C937}"/>
              </a:ext>
            </a:extLst>
          </p:cNvPr>
          <p:cNvSpPr/>
          <p:nvPr userDrawn="1"/>
        </p:nvSpPr>
        <p:spPr>
          <a:xfrm rot="18900000">
            <a:off x="7686638" y="5679449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2EBE3668-9A92-442F-A194-6E9B94812678}"/>
              </a:ext>
            </a:extLst>
          </p:cNvPr>
          <p:cNvSpPr/>
          <p:nvPr userDrawn="1"/>
        </p:nvSpPr>
        <p:spPr>
          <a:xfrm rot="18900000">
            <a:off x="11138348" y="5702654"/>
            <a:ext cx="284803" cy="288536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56FD4EDE-9EA6-4ED0-92B1-7E2254E934FC}"/>
              </a:ext>
            </a:extLst>
          </p:cNvPr>
          <p:cNvSpPr/>
          <p:nvPr userDrawn="1"/>
        </p:nvSpPr>
        <p:spPr>
          <a:xfrm rot="8100000">
            <a:off x="9141043" y="1166121"/>
            <a:ext cx="443552" cy="443552"/>
          </a:xfrm>
          <a:prstGeom prst="rtTriangle">
            <a:avLst/>
          </a:prstGeom>
          <a:noFill/>
          <a:ln w="8572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pic>
        <p:nvPicPr>
          <p:cNvPr id="25" name="Рисунок 24">
            <a:extLst>
              <a:ext uri="{FF2B5EF4-FFF2-40B4-BE49-F238E27FC236}">
                <a16:creationId xmlns:a16="http://schemas.microsoft.com/office/drawing/2014/main" id="{A7EA9281-E51A-4D57-943B-5D242A27914F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369629" y="404261"/>
            <a:ext cx="1276295" cy="1953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0458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82BB1F1-A4DB-44E1-8A5A-960372FB8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829E2F9-7CC1-4751-A4B0-AA7F2B83E0D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5B8B251-2301-4EFB-9904-A39275A38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463FF75-B451-4E5A-A06A-CF511682A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84E2D8D5-BCB4-45B2-935D-CC2EA28483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321011"/>
      </p:ext>
    </p:extLst>
  </p:cSld>
  <p:clrMapOvr>
    <a:masterClrMapping/>
  </p:clrMapOvr>
  <p:hf hdr="0" ftr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B0A9C91-DEBA-45F7-8841-9102563754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BB0EDF3-C838-43F8-8C47-F571D213E9B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B6058E9-C30A-41ED-BF0C-0213C0296B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F769DDBD-79C2-403E-8940-8E704577B9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34AF93F-B91A-4CC8-9D3F-61D6F9D493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37046179"/>
      </p:ext>
    </p:extLst>
  </p:cSld>
  <p:clrMapOvr>
    <a:masterClrMapping/>
  </p:clrMapOvr>
  <p:hf hdr="0" ft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9A65E5-935B-4201-88DA-EF87C39957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D70E7EC-191B-4AE5-B72F-7BAE11D7AB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C03274A1-CB14-47D4-BB09-F0A260FD575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2E696104-CC20-4039-88F0-880554312F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6F86870A-BF6A-499C-9973-B712771F18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85103EEA-FB95-4096-9622-A1A98F001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8694138"/>
      </p:ext>
    </p:extLst>
  </p:cSld>
  <p:clrMapOvr>
    <a:masterClrMapping/>
  </p:clrMapOvr>
  <p:hf hdr="0" ftr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8474A2-D192-464F-A372-66A5600F20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E3435313-9561-4C85-8A02-7DA4CC0631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20AB8990-BBB2-46CD-A73B-4DA55AF36C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AED173F3-EE69-46AA-9003-8A46C2AB92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F0B3524F-C496-4D4C-AEC6-728538B8882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7FB2578E-2101-4D2B-93E6-8CBB21A391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8417BA96-2202-423C-ADA9-DC74094246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32487BA3-24F1-4E8C-826F-52882FC036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21691056"/>
      </p:ext>
    </p:extLst>
  </p:cSld>
  <p:clrMapOvr>
    <a:masterClrMapping/>
  </p:clrMapOvr>
  <p:hf hdr="0" ft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40E12B-6C5A-468D-82D2-384357CDE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52B28800-34A4-4A7F-9B4C-C331E259C4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04DD52F6-F1AB-4EDC-8D36-04974D3592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9B82152E-B66E-427E-8D8C-CD11EECF64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70392012"/>
      </p:ext>
    </p:extLst>
  </p:cSld>
  <p:clrMapOvr>
    <a:masterClrMapping/>
  </p:clrMapOvr>
  <p:hf hdr="0" ft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520C9C0E-CCCA-4F66-B0B3-E1638B644B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04B807DF-1BFF-4BF5-AE1F-25B77C27E8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8FCC9830-FFEA-4F1F-B0E2-F115A57478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94919396"/>
      </p:ext>
    </p:extLst>
  </p:cSld>
  <p:clrMapOvr>
    <a:masterClrMapping/>
  </p:clrMapOvr>
  <p:hf hdr="0" ftr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2B15807-E4F7-4601-BA07-78B477C57F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616D9597-3462-4AA6-9DD9-A689BFBE022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38796005-D8AF-4520-9009-CAE57BAF52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8D871130-C336-49EC-9D07-58B1541ABD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54EDD78F-578A-41B8-AC12-DB70BD3D97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B0EF72AF-BBD4-4A67-983F-7196B2E167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78654060"/>
      </p:ext>
    </p:extLst>
  </p:cSld>
  <p:clrMapOvr>
    <a:masterClrMapping/>
  </p:clrMapOvr>
  <p:hf hdr="0" ftr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13E25C5-5BF4-43B4-981B-A6495A0EC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9991036D-AECC-43D4-A6A9-2F1191F2F53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F629D242-4102-49B5-8B6C-5FE54ECA9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591C3B12-B61E-4578-A37E-7E87BB2F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F87BC09F-5874-4540-B552-AFF08F156B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F56EB61C-1FE3-4FF5-AE39-B2A06E67F9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4096517"/>
      </p:ext>
    </p:extLst>
  </p:cSld>
  <p:clrMapOvr>
    <a:masterClrMapping/>
  </p:clrMapOvr>
  <p:hf hdr="0" ft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80787C-CCDF-4005-8166-5E7CB549F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8AE43384-9212-4186-91D8-7AC0C9108B5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5314209B-C62D-49F2-896E-749A024434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DA0C10A8-7E94-42FE-B760-FEBF8DE094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41A7F7-E710-4E9E-A8E6-359F8D8980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41152350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2C384BE4-89D4-41FA-9331-258651715E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2B9A16B-DD95-4E76-A7C0-4C64BB79C8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7BDE03D-2875-433B-AC83-D540A12C61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3BFB28F-C73D-4F2E-A726-CA60146E5E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66F69DCD-40B1-4C11-93BD-D97E52DD69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30556638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Инфо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Прямоугольник 6">
            <a:extLst>
              <a:ext uri="{FF2B5EF4-FFF2-40B4-BE49-F238E27FC236}">
                <a16:creationId xmlns:a16="http://schemas.microsoft.com/office/drawing/2014/main" id="{BF865ADE-93B5-4588-8305-48B2BEC2FEEA}"/>
              </a:ext>
            </a:extLst>
          </p:cNvPr>
          <p:cNvSpPr/>
          <p:nvPr userDrawn="1"/>
        </p:nvSpPr>
        <p:spPr>
          <a:xfrm>
            <a:off x="75143" y="66438"/>
            <a:ext cx="12041715" cy="672512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8" name="Объект 2">
            <a:extLst>
              <a:ext uri="{FF2B5EF4-FFF2-40B4-BE49-F238E27FC236}">
                <a16:creationId xmlns:a16="http://schemas.microsoft.com/office/drawing/2014/main" id="{0CF99737-AECE-4F14-89EE-B6B6EB949C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02816"/>
            <a:ext cx="10515600" cy="4974147"/>
          </a:xfrm>
        </p:spPr>
        <p:txBody>
          <a:bodyPr>
            <a:normAutofit/>
          </a:bodyPr>
          <a:lstStyle>
            <a:lvl1pPr>
              <a:defRPr sz="1800">
                <a:solidFill>
                  <a:srgbClr val="00497A"/>
                </a:solidFill>
              </a:defRPr>
            </a:lvl1pPr>
            <a:lvl2pPr>
              <a:defRPr sz="1600">
                <a:solidFill>
                  <a:srgbClr val="00497A"/>
                </a:solidFill>
              </a:defRPr>
            </a:lvl2pPr>
            <a:lvl3pPr>
              <a:defRPr sz="1400">
                <a:solidFill>
                  <a:srgbClr val="00497A"/>
                </a:solidFill>
              </a:defRPr>
            </a:lvl3pPr>
            <a:lvl4pPr>
              <a:defRPr sz="1200">
                <a:solidFill>
                  <a:srgbClr val="00497A"/>
                </a:solidFill>
              </a:defRPr>
            </a:lvl4pPr>
            <a:lvl5pPr>
              <a:defRPr sz="1200">
                <a:solidFill>
                  <a:srgbClr val="00497A"/>
                </a:solidFill>
              </a:defRPr>
            </a:lvl5pPr>
          </a:lstStyle>
          <a:p>
            <a:pPr lvl="0"/>
            <a:r>
              <a:rPr lang="ru-RU" dirty="0"/>
              <a:t>Образец текста</a:t>
            </a:r>
          </a:p>
          <a:p>
            <a:pPr lvl="1"/>
            <a:r>
              <a:rPr lang="ru-RU" dirty="0"/>
              <a:t>Второй уровень</a:t>
            </a:r>
          </a:p>
          <a:p>
            <a:pPr lvl="2"/>
            <a:r>
              <a:rPr lang="ru-RU" dirty="0"/>
              <a:t>Третий уровень</a:t>
            </a:r>
          </a:p>
          <a:p>
            <a:pPr lvl="3"/>
            <a:r>
              <a:rPr lang="ru-RU" dirty="0" err="1"/>
              <a:t>Четвертый</a:t>
            </a:r>
            <a:r>
              <a:rPr lang="ru-RU" dirty="0"/>
              <a:t> уровень</a:t>
            </a:r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7925888C-A95E-4A1F-AA86-46AA543811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112B0F4B-37E6-4319-8F4B-24D1060A079B}" type="datetime1">
              <a:rPr lang="ru-RU" smtClean="0"/>
              <a:pPr/>
              <a:t>06.06.2026</a:t>
            </a:fld>
            <a:endParaRPr lang="ru-RU" dirty="0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0F3BF629-A3BD-4A63-88E4-B4C92EA2C6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198217BE-D2B2-4E46-A31E-05CD31E3C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497A"/>
                </a:solidFill>
              </a:defRPr>
            </a:lvl1pPr>
          </a:lstStyle>
          <a:p>
            <a:fld id="{7870AAFC-F658-4D4F-B37E-DA3BC9CB41D6}" type="slidenum">
              <a:rPr lang="ru-RU" smtClean="0"/>
              <a:pPr/>
              <a:t>‹#›</a:t>
            </a:fld>
            <a:endParaRPr lang="ru-RU"/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2D8005A1-155B-4DB1-875C-2838BFF3D95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61578" y="230091"/>
            <a:ext cx="1565600" cy="880650"/>
          </a:xfrm>
          <a:prstGeom prst="rect">
            <a:avLst/>
          </a:prstGeom>
        </p:spPr>
      </p:pic>
      <p:sp>
        <p:nvSpPr>
          <p:cNvPr id="12" name="Прямоугольный треугольник 11">
            <a:extLst>
              <a:ext uri="{FF2B5EF4-FFF2-40B4-BE49-F238E27FC236}">
                <a16:creationId xmlns:a16="http://schemas.microsoft.com/office/drawing/2014/main" id="{CFBF183B-B98F-497F-9D31-BA26CF15B95F}"/>
              </a:ext>
            </a:extLst>
          </p:cNvPr>
          <p:cNvSpPr/>
          <p:nvPr userDrawn="1"/>
        </p:nvSpPr>
        <p:spPr>
          <a:xfrm rot="8100000">
            <a:off x="463203" y="707191"/>
            <a:ext cx="184546" cy="182731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Прямоугольный треугольник 14">
            <a:extLst>
              <a:ext uri="{FF2B5EF4-FFF2-40B4-BE49-F238E27FC236}">
                <a16:creationId xmlns:a16="http://schemas.microsoft.com/office/drawing/2014/main" id="{789CF102-F384-4159-BBA3-C403C20908A9}"/>
              </a:ext>
            </a:extLst>
          </p:cNvPr>
          <p:cNvSpPr/>
          <p:nvPr userDrawn="1"/>
        </p:nvSpPr>
        <p:spPr>
          <a:xfrm rot="13500000">
            <a:off x="247432" y="1848548"/>
            <a:ext cx="390872" cy="38703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Прямоугольный треугольник 15">
            <a:extLst>
              <a:ext uri="{FF2B5EF4-FFF2-40B4-BE49-F238E27FC236}">
                <a16:creationId xmlns:a16="http://schemas.microsoft.com/office/drawing/2014/main" id="{AF8265A1-CAD2-4652-B16C-F2E19FD81F2F}"/>
              </a:ext>
            </a:extLst>
          </p:cNvPr>
          <p:cNvSpPr/>
          <p:nvPr userDrawn="1"/>
        </p:nvSpPr>
        <p:spPr>
          <a:xfrm rot="8100000">
            <a:off x="452221" y="237731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Прямоугольный треугольник 16">
            <a:extLst>
              <a:ext uri="{FF2B5EF4-FFF2-40B4-BE49-F238E27FC236}">
                <a16:creationId xmlns:a16="http://schemas.microsoft.com/office/drawing/2014/main" id="{9B0330C4-C5DD-4328-9BC7-57E1A77F6C10}"/>
              </a:ext>
            </a:extLst>
          </p:cNvPr>
          <p:cNvSpPr/>
          <p:nvPr userDrawn="1"/>
        </p:nvSpPr>
        <p:spPr>
          <a:xfrm rot="8100000">
            <a:off x="11630738" y="6109252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2" name="Прямоугольный треугольник 21">
            <a:extLst>
              <a:ext uri="{FF2B5EF4-FFF2-40B4-BE49-F238E27FC236}">
                <a16:creationId xmlns:a16="http://schemas.microsoft.com/office/drawing/2014/main" id="{6C65F344-A574-4F02-91D3-07FC6E5B5033}"/>
              </a:ext>
            </a:extLst>
          </p:cNvPr>
          <p:cNvSpPr/>
          <p:nvPr userDrawn="1"/>
        </p:nvSpPr>
        <p:spPr>
          <a:xfrm rot="18900000">
            <a:off x="640728" y="5962466"/>
            <a:ext cx="211818" cy="209736"/>
          </a:xfrm>
          <a:prstGeom prst="rtTriangle">
            <a:avLst/>
          </a:prstGeom>
          <a:noFill/>
          <a:ln w="41275">
            <a:gradFill>
              <a:gsLst>
                <a:gs pos="0">
                  <a:srgbClr val="CC5BAB"/>
                </a:gs>
                <a:gs pos="100000">
                  <a:srgbClr val="F98413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3" name="Прямоугольный треугольник 22">
            <a:extLst>
              <a:ext uri="{FF2B5EF4-FFF2-40B4-BE49-F238E27FC236}">
                <a16:creationId xmlns:a16="http://schemas.microsoft.com/office/drawing/2014/main" id="{7B33F8A4-D60D-488E-81ED-86A3FE6D62E8}"/>
              </a:ext>
            </a:extLst>
          </p:cNvPr>
          <p:cNvSpPr/>
          <p:nvPr userDrawn="1"/>
        </p:nvSpPr>
        <p:spPr>
          <a:xfrm rot="18900000">
            <a:off x="3552592" y="6019366"/>
            <a:ext cx="276113" cy="273399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4" name="Прямоугольный треугольник 23">
            <a:extLst>
              <a:ext uri="{FF2B5EF4-FFF2-40B4-BE49-F238E27FC236}">
                <a16:creationId xmlns:a16="http://schemas.microsoft.com/office/drawing/2014/main" id="{C4E599F6-5CBC-4551-BD6C-077F23AF3941}"/>
              </a:ext>
            </a:extLst>
          </p:cNvPr>
          <p:cNvSpPr/>
          <p:nvPr userDrawn="1"/>
        </p:nvSpPr>
        <p:spPr>
          <a:xfrm rot="18900000">
            <a:off x="8198253" y="6158127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5" name="Прямоугольный треугольник 24">
            <a:extLst>
              <a:ext uri="{FF2B5EF4-FFF2-40B4-BE49-F238E27FC236}">
                <a16:creationId xmlns:a16="http://schemas.microsoft.com/office/drawing/2014/main" id="{11E09F5D-4D01-4972-9F22-02A0248FF409}"/>
              </a:ext>
            </a:extLst>
          </p:cNvPr>
          <p:cNvSpPr/>
          <p:nvPr userDrawn="1"/>
        </p:nvSpPr>
        <p:spPr>
          <a:xfrm rot="18900000">
            <a:off x="11492079" y="6292570"/>
            <a:ext cx="177291" cy="177850"/>
          </a:xfrm>
          <a:prstGeom prst="rtTriangle">
            <a:avLst/>
          </a:prstGeom>
          <a:noFill/>
          <a:ln w="41275">
            <a:gradFill>
              <a:gsLst>
                <a:gs pos="0">
                  <a:srgbClr val="3094FF"/>
                </a:gs>
                <a:gs pos="100000">
                  <a:srgbClr val="905FFF"/>
                </a:gs>
              </a:gsLst>
              <a:lin ang="5400000" scaled="1"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7" name="Заголовок 1">
            <a:extLst>
              <a:ext uri="{FF2B5EF4-FFF2-40B4-BE49-F238E27FC236}">
                <a16:creationId xmlns:a16="http://schemas.microsoft.com/office/drawing/2014/main" id="{345522D5-2C20-4CF3-A8DA-DDA5137977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8202474" cy="697717"/>
          </a:xfrm>
        </p:spPr>
        <p:txBody>
          <a:bodyPr/>
          <a:lstStyle>
            <a:lvl1pPr>
              <a:lnSpc>
                <a:spcPct val="70000"/>
              </a:lnSpc>
              <a:defRPr>
                <a:solidFill>
                  <a:srgbClr val="00497A"/>
                </a:solidFill>
              </a:defRPr>
            </a:lvl1pPr>
          </a:lstStyle>
          <a:p>
            <a:r>
              <a:rPr lang="ru-RU" dirty="0"/>
              <a:t>Образец заголовка</a:t>
            </a:r>
          </a:p>
        </p:txBody>
      </p:sp>
      <p:pic>
        <p:nvPicPr>
          <p:cNvPr id="29" name="Рисунок 28">
            <a:extLst>
              <a:ext uri="{FF2B5EF4-FFF2-40B4-BE49-F238E27FC236}">
                <a16:creationId xmlns:a16="http://schemas.microsoft.com/office/drawing/2014/main" id="{D76A972D-CF22-4B4A-AF0A-F6DC4391B492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duotone>
              <a:prstClr val="black"/>
              <a:srgbClr val="00497A">
                <a:tint val="45000"/>
                <a:satMod val="400000"/>
              </a:srgbClr>
            </a:duotone>
          </a:blip>
          <a:stretch>
            <a:fillRect/>
          </a:stretch>
        </p:blipFill>
        <p:spPr>
          <a:xfrm>
            <a:off x="9130354" y="598091"/>
            <a:ext cx="1272875" cy="1948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1261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4240ACB-DB40-4900-8210-C2A9314FF1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0C237117-7F9A-4107-AFEF-BDE3B53580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94705BD7-EF22-4FE5-A914-4952B4B37F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4B0392-6652-4E63-9185-19FE4105AD5C}" type="datetime1">
              <a:rPr lang="ru-RU" smtClean="0"/>
              <a:t>06.06.2026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4CAEA5C2-B3A2-4395-A2F8-B7AB124952A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AC56CD2A-A7A8-4753-9B5C-5AB23B4041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70AAFC-F658-4D4F-B37E-DA3BC9CB41D6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210888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1" r:id="rId1"/>
    <p:sldLayoutId id="2147483862" r:id="rId2"/>
    <p:sldLayoutId id="2147483863" r:id="rId3"/>
    <p:sldLayoutId id="2147483864" r:id="rId4"/>
    <p:sldLayoutId id="2147483865" r:id="rId5"/>
    <p:sldLayoutId id="2147483866" r:id="rId6"/>
    <p:sldLayoutId id="2147483867" r:id="rId7"/>
    <p:sldLayoutId id="2147483868" r:id="rId8"/>
    <p:sldLayoutId id="2147483869" r:id="rId9"/>
    <p:sldLayoutId id="2147483870" r:id="rId10"/>
    <p:sldLayoutId id="2147483871" r:id="rId11"/>
    <p:sldLayoutId id="2147483872" r:id="rId12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2.xml"/><Relationship Id="rId4" Type="http://schemas.openxmlformats.org/officeDocument/2006/relationships/comments" Target="../comments/commen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D0B3C-4330-775A-D8A5-7BDDA7A2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190501"/>
            <a:ext cx="11658600" cy="127634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1DE144-93D5-2280-8A77-9356B71E1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5000"/>
            <a:ext cx="9144000" cy="70391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программирования и информационных технологий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847BE-98AB-59E3-A177-3FA39E069FD2}"/>
              </a:ext>
            </a:extLst>
          </p:cNvPr>
          <p:cNvSpPr txBox="1"/>
          <p:nvPr/>
        </p:nvSpPr>
        <p:spPr>
          <a:xfrm>
            <a:off x="485775" y="3047061"/>
            <a:ext cx="11220450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приложения для работника автосервиса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28718-D8F8-BF9A-8013-0211D7649721}"/>
              </a:ext>
            </a:extLst>
          </p:cNvPr>
          <p:cNvSpPr txBox="1"/>
          <p:nvPr/>
        </p:nvSpPr>
        <p:spPr>
          <a:xfrm>
            <a:off x="6838950" y="5225534"/>
            <a:ext cx="5086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Ушаков В.А.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Селютин 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793948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015"/>
            <a:ext cx="10515599" cy="4743948"/>
          </a:xfrm>
        </p:spPr>
        <p:txBody>
          <a:bodyPr>
            <a:norm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Рынок автосервисов в России активно растёт. Количество автомобилей увеличивается, возрастает и потребность в их обслуживании и ремонте. При этом многие автосервисы до сих пор работают «по старинке» — используют бумажные журналы, Excel-таблицы или разрозненные заметки.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9F199AD9-ACD2-4DBE-B486-CF50CF360A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2B0F4B-37E6-4319-8F4B-24D1060A079B}" type="datetime1">
              <a:rPr lang="ru-RU" smtClean="0"/>
              <a:pPr/>
              <a:t>06.06.2026</a:t>
            </a:fld>
            <a:endParaRPr lang="ru-RU" dirty="0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2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Актуальность</a:t>
            </a:r>
          </a:p>
        </p:txBody>
      </p:sp>
    </p:spTree>
    <p:extLst>
      <p:ext uri="{BB962C8B-B14F-4D97-AF65-F5344CB8AC3E}">
        <p14:creationId xmlns:p14="http://schemas.microsoft.com/office/powerpoint/2010/main" val="241937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015"/>
            <a:ext cx="10515599" cy="4743948"/>
          </a:xfrm>
        </p:spPr>
        <p:txBody>
          <a:bodyPr>
            <a:norm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Цель проекта – разработка мобильного приложения с чистой архитектурой для автоматизации работы автосервиса на платформе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Функциональные возможности: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Регистрация и вход для сотрудников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Просмотр списка текущих задач (ремонтов)</a:t>
            </a:r>
          </a:p>
          <a:p>
            <a:pPr marL="0" indent="444500" algn="just">
              <a:lnSpc>
                <a:spcPct val="150000"/>
              </a:lnSpc>
              <a:buNone/>
            </a:pP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3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Постановка задачи</a:t>
            </a:r>
          </a:p>
        </p:txBody>
      </p:sp>
    </p:spTree>
    <p:extLst>
      <p:ext uri="{BB962C8B-B14F-4D97-AF65-F5344CB8AC3E}">
        <p14:creationId xmlns:p14="http://schemas.microsoft.com/office/powerpoint/2010/main" val="34209412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839344"/>
            <a:ext cx="10515599" cy="4743948"/>
          </a:xfrm>
        </p:spPr>
        <p:txBody>
          <a:bodyPr>
            <a:norm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1С: Автодилер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4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pic>
        <p:nvPicPr>
          <p:cNvPr id="6" name="Рисунок 5" descr="Заказ-наряд в 1С УНФ - инструкции по работе с 1С от Деловых решений">
            <a:extLst>
              <a:ext uri="{FF2B5EF4-FFF2-40B4-BE49-F238E27FC236}">
                <a16:creationId xmlns:a16="http://schemas.microsoft.com/office/drawing/2014/main" id="{CCA916C9-2B7B-435E-BD75-D098A04458F0}"/>
              </a:ext>
            </a:extLst>
          </p:cNvPr>
          <p:cNvPicPr/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27018" y="1537061"/>
            <a:ext cx="9337963" cy="4869081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6962771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0218" y="839344"/>
            <a:ext cx="10515599" cy="4743948"/>
          </a:xfrm>
        </p:spPr>
        <p:txBody>
          <a:bodyPr>
            <a:norm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VINDESK </a:t>
            </a: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5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Обзор аналогов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EFDA3D44-9E4E-454D-9774-EE4299F6E395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660715" y="1493380"/>
            <a:ext cx="9914604" cy="4862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02832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015"/>
            <a:ext cx="10515599" cy="4743948"/>
          </a:xfrm>
        </p:spPr>
        <p:txBody>
          <a:bodyPr>
            <a:normAutofit fontScale="70000" lnSpcReduction="20000"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Язык: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Kotlin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null-safety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,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coroutines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Платформа: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Android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SDK API 24+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Архитектура: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ViewModel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LiveData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Jetpack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Navigation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Component</a:t>
            </a:r>
            <a:endParaRPr lang="ru-RU" sz="2800" b="0" i="0" u="none" strike="noStrike" kern="1200" cap="none" spc="0" baseline="0" dirty="0">
              <a:solidFill>
                <a:srgbClr val="202124"/>
              </a:solidFill>
              <a:uFillTx/>
              <a:latin typeface="Times New Roman"/>
              <a:cs typeface="Times New Roman"/>
            </a:endParaRP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Koin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3.x – внедрение зависимостей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24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Backend</a:t>
            </a: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800" b="1" i="0" u="none" strike="noStrike" kern="1200" cap="none" spc="0" baseline="0" dirty="0" err="1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8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):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PostgreSQL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PostgREST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(REST API)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Realtime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(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WebSocket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)</a:t>
            </a:r>
          </a:p>
          <a:p>
            <a:pPr marL="0" lvl="0" indent="0">
              <a:lnSpc>
                <a:spcPct val="150000"/>
              </a:lnSpc>
              <a:buNone/>
            </a:pPr>
            <a:endParaRPr lang="ru-RU" sz="2800" dirty="0">
              <a:solidFill>
                <a:schemeClr val="tx1"/>
              </a:solidFill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6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Средства реализации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B032453D-FA88-4AA9-8377-9806EC00AC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09173" y="4093387"/>
            <a:ext cx="1807785" cy="180778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18" descr="Picture background">
            <a:extLst>
              <a:ext uri="{FF2B5EF4-FFF2-40B4-BE49-F238E27FC236}">
                <a16:creationId xmlns:a16="http://schemas.microsoft.com/office/drawing/2014/main" id="{44E84B5A-1C5C-47E1-A7FD-E11514ACFB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03465" y="956828"/>
            <a:ext cx="2037209" cy="2100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upabase Icon icon - Free Download PNG &amp; SVG | Streamline">
            <a:extLst>
              <a:ext uri="{FF2B5EF4-FFF2-40B4-BE49-F238E27FC236}">
                <a16:creationId xmlns:a16="http://schemas.microsoft.com/office/drawing/2014/main" id="{46D83307-A738-49E6-AA21-7F64714E1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077239" y="3146612"/>
            <a:ext cx="2607134" cy="26071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25813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1626"/>
            <a:ext cx="10515599" cy="4743948"/>
          </a:xfrm>
        </p:spPr>
        <p:txBody>
          <a:bodyPr>
            <a:no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7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graphicFrame>
        <p:nvGraphicFramePr>
          <p:cNvPr id="6" name="Таблица 5">
            <a:extLst>
              <a:ext uri="{FF2B5EF4-FFF2-40B4-BE49-F238E27FC236}">
                <a16:creationId xmlns:a16="http://schemas.microsoft.com/office/drawing/2014/main" id="{5A6FD6E3-C07D-4060-9979-D15468F59A2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64095138"/>
              </p:ext>
            </p:extLst>
          </p:nvPr>
        </p:nvGraphicFramePr>
        <p:xfrm>
          <a:off x="838200" y="1431626"/>
          <a:ext cx="9628866" cy="311326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3854">
                  <a:extLst>
                    <a:ext uri="{9D8B030D-6E8A-4147-A177-3AD203B41FA5}">
                      <a16:colId xmlns:a16="http://schemas.microsoft.com/office/drawing/2014/main" val="971303269"/>
                    </a:ext>
                  </a:extLst>
                </a:gridCol>
                <a:gridCol w="2262912">
                  <a:extLst>
                    <a:ext uri="{9D8B030D-6E8A-4147-A177-3AD203B41FA5}">
                      <a16:colId xmlns:a16="http://schemas.microsoft.com/office/drawing/2014/main" val="3765149263"/>
                    </a:ext>
                  </a:extLst>
                </a:gridCol>
                <a:gridCol w="2469767">
                  <a:extLst>
                    <a:ext uri="{9D8B030D-6E8A-4147-A177-3AD203B41FA5}">
                      <a16:colId xmlns:a16="http://schemas.microsoft.com/office/drawing/2014/main" val="774575762"/>
                    </a:ext>
                  </a:extLst>
                </a:gridCol>
                <a:gridCol w="3612333">
                  <a:extLst>
                    <a:ext uri="{9D8B030D-6E8A-4147-A177-3AD203B41FA5}">
                      <a16:colId xmlns:a16="http://schemas.microsoft.com/office/drawing/2014/main" val="2224896255"/>
                    </a:ext>
                  </a:extLst>
                </a:gridCol>
              </a:tblGrid>
              <a:tr h="370069"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Слой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Компоненты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Классы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dirty="0"/>
                        <a:t>Ответственность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222170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Use Case (16 </a:t>
                      </a:r>
                      <a:r>
                        <a:rPr lang="ru-RU" dirty="0"/>
                        <a:t>классов)</a:t>
                      </a:r>
                      <a:br>
                        <a:rPr lang="en-US" dirty="0"/>
                      </a:br>
                      <a:r>
                        <a:rPr lang="en-US" dirty="0"/>
                        <a:t>Repository</a:t>
                      </a:r>
                      <a:br>
                        <a:rPr lang="en-US" dirty="0"/>
                      </a:br>
                      <a:r>
                        <a:rPr lang="en-US" dirty="0"/>
                        <a:t>Service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SignInUseCase</a:t>
                      </a:r>
                      <a:br>
                        <a:rPr lang="en-US" dirty="0"/>
                      </a:br>
                      <a:r>
                        <a:rPr lang="en-US" dirty="0" err="1"/>
                        <a:t>AuthRepositoryImpl</a:t>
                      </a:r>
                      <a:br>
                        <a:rPr lang="en-US" dirty="0"/>
                      </a:br>
                      <a:r>
                        <a:rPr lang="en-US" dirty="0" err="1"/>
                        <a:t>WorkListRepositoryImpl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Бизнес-сценарии</a:t>
                      </a:r>
                    </a:p>
                    <a:p>
                      <a:r>
                        <a:rPr lang="ru-RU" dirty="0"/>
                        <a:t>Доступ к </a:t>
                      </a:r>
                      <a:r>
                        <a:rPr lang="en-US" dirty="0" err="1"/>
                        <a:t>Supabase</a:t>
                      </a:r>
                      <a:r>
                        <a:rPr lang="en-US" dirty="0"/>
                        <a:t> (</a:t>
                      </a:r>
                      <a:r>
                        <a:rPr lang="en-US" dirty="0" err="1"/>
                        <a:t>PostgREST</a:t>
                      </a:r>
                      <a:r>
                        <a:rPr lang="en-US" dirty="0"/>
                        <a:t>, Auth, Realtime)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061394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View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Activity</a:t>
                      </a:r>
                    </a:p>
                    <a:p>
                      <a:r>
                        <a:rPr lang="en-US" dirty="0"/>
                        <a:t>Fragment</a:t>
                      </a:r>
                    </a:p>
                    <a:p>
                      <a:r>
                        <a:rPr lang="en-US" dirty="0"/>
                        <a:t>Adapter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SignInViewActivity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WorkListFragment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Отображение </a:t>
                      </a:r>
                      <a:r>
                        <a:rPr lang="en-US" dirty="0"/>
                        <a:t>UI, </a:t>
                      </a:r>
                      <a:r>
                        <a:rPr lang="ru-RU" dirty="0"/>
                        <a:t>обработка пользовательских событий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626969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 err="1"/>
                        <a:t>ViewModel</a:t>
                      </a:r>
                      <a:endParaRPr lang="ru-RU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ViewModel</a:t>
                      </a:r>
                      <a:endParaRPr lang="en-US" dirty="0"/>
                    </a:p>
                    <a:p>
                      <a:r>
                        <a:rPr lang="en-US" dirty="0" err="1"/>
                        <a:t>LiveData</a:t>
                      </a:r>
                      <a:endParaRPr lang="en-US" dirty="0"/>
                    </a:p>
                    <a:p>
                      <a:r>
                        <a:rPr lang="en-US" dirty="0"/>
                        <a:t>data class </a:t>
                      </a:r>
                      <a:r>
                        <a:rPr lang="en-US" dirty="0" err="1"/>
                        <a:t>uiState</a:t>
                      </a:r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 err="1"/>
                        <a:t>SignInViewModel</a:t>
                      </a:r>
                      <a:r>
                        <a:rPr lang="en-US" dirty="0"/>
                        <a:t> </a:t>
                      </a:r>
                      <a:r>
                        <a:rPr lang="en-US" dirty="0" err="1"/>
                        <a:t>WorkListViewModel</a:t>
                      </a:r>
                      <a:endParaRPr lang="en-US" dirty="0"/>
                    </a:p>
                    <a:p>
                      <a:endParaRPr lang="ru-RU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/>
                        <a:t>Управление состоянием экрана, реактивный </a:t>
                      </a:r>
                      <a:r>
                        <a:rPr lang="en-US" dirty="0"/>
                        <a:t>UI</a:t>
                      </a:r>
                      <a:endParaRPr lang="ru-RU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471734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944581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1000" y="723802"/>
            <a:ext cx="10515599" cy="4743948"/>
          </a:xfrm>
        </p:spPr>
        <p:txBody>
          <a:bodyPr>
            <a:noAutofit/>
          </a:bodyPr>
          <a:lstStyle/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Схема базы данных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8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Архитектура приложения</a:t>
            </a:r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5A65AF92-B5C2-4EDE-A57E-12B44F8F8F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2751" y="1387066"/>
            <a:ext cx="8032096" cy="533440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08990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015"/>
            <a:ext cx="5528417" cy="4743948"/>
          </a:xfrm>
        </p:spPr>
        <p:txBody>
          <a:bodyPr>
            <a:normAutofit fontScale="92500" lnSpcReduction="10000"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регистрации: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4 поля ввода;</a:t>
            </a:r>
            <a:b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</a:b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клиентская валидация (формат, сложность);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проверка уникальности телефона.</a:t>
            </a:r>
            <a:endParaRPr lang="ru-RU" sz="28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Экран входа: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email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пароль;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Supabase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</a:t>
            </a:r>
            <a:r>
              <a:rPr lang="ru-RU" sz="2800" b="0" i="0" u="none" strike="noStrike" kern="1200" cap="none" spc="0" baseline="0" dirty="0" err="1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Auth</a:t>
            </a:r>
            <a:r>
              <a:rPr lang="ru-RU" sz="28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 + JWT-сессия;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9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приложения: аутентификация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775BFC8-F7B6-41CF-A249-938FB218809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4531" b="4531"/>
          <a:stretch/>
        </p:blipFill>
        <p:spPr>
          <a:xfrm>
            <a:off x="6735953" y="1572428"/>
            <a:ext cx="1994288" cy="403012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5BABD52-1812-4105-A3C3-8D432F8209D4}"/>
              </a:ext>
            </a:extLst>
          </p:cNvPr>
          <p:cNvSpPr txBox="1"/>
          <p:nvPr/>
        </p:nvSpPr>
        <p:spPr>
          <a:xfrm>
            <a:off x="6990001" y="5602556"/>
            <a:ext cx="148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Активность регистрации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09C4FC-874C-4ACB-AA40-321A3AB81BB1}"/>
              </a:ext>
            </a:extLst>
          </p:cNvPr>
          <p:cNvSpPr txBox="1"/>
          <p:nvPr/>
        </p:nvSpPr>
        <p:spPr>
          <a:xfrm>
            <a:off x="9910795" y="5602556"/>
            <a:ext cx="148619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/>
              <a:t>Главная активность</a:t>
            </a:r>
          </a:p>
        </p:txBody>
      </p:sp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33D8AEF4-BE5A-416A-BE6E-AA04962EAB29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9284898" y="2241750"/>
            <a:ext cx="2737986" cy="3191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28680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1" y="1433015"/>
            <a:ext cx="4828674" cy="4743948"/>
          </a:xfrm>
        </p:spPr>
        <p:txBody>
          <a:bodyPr>
            <a:normAutofit fontScale="77500" lnSpcReduction="20000"/>
          </a:bodyPr>
          <a:lstStyle/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Список задач: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список задач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отображение комментария и описания задачи</a:t>
            </a:r>
          </a:p>
          <a:p>
            <a:pPr marL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ru-RU" sz="3200" dirty="0"/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600" b="1" i="0" u="none" strike="noStrike" kern="1200" cap="none" spc="0" baseline="0" dirty="0">
                <a:solidFill>
                  <a:srgbClr val="000000"/>
                </a:solidFill>
                <a:uFillTx/>
                <a:latin typeface="Times New Roman"/>
                <a:cs typeface="Times New Roman"/>
              </a:rPr>
              <a:t>Личный кабинет: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отображение должности  и ФИО</a:t>
            </a:r>
          </a:p>
          <a:p>
            <a:pPr marL="0" lvl="0" indent="0" algn="l" defTabSz="914400" rtl="0" fontAlgn="auto" hangingPunct="1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ru-RU" sz="3200" b="0" i="0" u="none" strike="noStrike" kern="1200" cap="none" spc="0" baseline="0" dirty="0">
                <a:solidFill>
                  <a:srgbClr val="202124"/>
                </a:solidFill>
                <a:uFillTx/>
                <a:latin typeface="Times New Roman"/>
                <a:cs typeface="Times New Roman"/>
              </a:rPr>
              <a:t>– кнопка выхода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10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365125"/>
            <a:ext cx="11085910" cy="697717"/>
          </a:xfrm>
        </p:spPr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Дизайн приложения: список задач и личный кабинет</a:t>
            </a:r>
          </a:p>
        </p:txBody>
      </p:sp>
      <p:pic>
        <p:nvPicPr>
          <p:cNvPr id="13" name="Рисунок 12">
            <a:extLst>
              <a:ext uri="{FF2B5EF4-FFF2-40B4-BE49-F238E27FC236}">
                <a16:creationId xmlns:a16="http://schemas.microsoft.com/office/drawing/2014/main" id="{D58BE6CD-BC6D-4541-BA7B-2D2D677AE6A1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5860017" y="1997242"/>
            <a:ext cx="2837100" cy="3307330"/>
          </a:xfrm>
          <a:prstGeom prst="rect">
            <a:avLst/>
          </a:prstGeom>
        </p:spPr>
      </p:pic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7F20A6E2-6976-44D7-9949-F52BC2C268D2}"/>
              </a:ext>
            </a:extLst>
          </p:cNvPr>
          <p:cNvPicPr/>
          <p:nvPr/>
        </p:nvPicPr>
        <p:blipFill>
          <a:blip r:embed="rId3"/>
          <a:stretch>
            <a:fillRect/>
          </a:stretch>
        </p:blipFill>
        <p:spPr>
          <a:xfrm>
            <a:off x="8757089" y="2286000"/>
            <a:ext cx="3344088" cy="30185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74332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ъект 1">
            <a:extLst>
              <a:ext uri="{FF2B5EF4-FFF2-40B4-BE49-F238E27FC236}">
                <a16:creationId xmlns:a16="http://schemas.microsoft.com/office/drawing/2014/main" id="{CA127083-7008-4D3F-A009-5341507D67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33015"/>
            <a:ext cx="10515600" cy="4743948"/>
          </a:xfrm>
        </p:spPr>
        <p:txBody>
          <a:bodyPr>
            <a:normAutofit/>
          </a:bodyPr>
          <a:lstStyle/>
          <a:p>
            <a:pPr marL="0" indent="444500" algn="just">
              <a:lnSpc>
                <a:spcPct val="10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В ходе работы было реализовано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Android-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приложение интернет магазина с чистой архитектурой 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MVVM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которое имеет следующие возможности:</a:t>
            </a:r>
          </a:p>
          <a:p>
            <a:pPr marL="0" indent="444500" algn="just">
              <a:lnSpc>
                <a:spcPct val="10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</a:t>
            </a: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Регистрация и вход.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Просмотр списка текущих задач (ремонтов).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Выполнена интеграция с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Supabase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;</a:t>
            </a:r>
          </a:p>
          <a:p>
            <a:pPr marL="0" indent="444500" algn="just">
              <a:lnSpc>
                <a:spcPct val="150000"/>
              </a:lnSpc>
              <a:buNone/>
            </a:pP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– Разработан UI по </a:t>
            </a:r>
            <a:r>
              <a:rPr lang="ru-RU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Material</a:t>
            </a:r>
            <a:r>
              <a:rPr lang="ru-RU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Design 3;</a:t>
            </a:r>
          </a:p>
          <a:p>
            <a:pPr marL="0" indent="444500" algn="just">
              <a:lnSpc>
                <a:spcPct val="150000"/>
              </a:lnSpc>
              <a:buNone/>
            </a:pPr>
            <a:endParaRPr lang="ru-RU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3312A693-A569-42B5-9223-57DEA54825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70AAFC-F658-4D4F-B37E-DA3BC9CB41D6}" type="slidenum">
              <a:rPr lang="ru-RU" smtClean="0">
                <a:solidFill>
                  <a:schemeClr val="tx1"/>
                </a:solidFill>
              </a:rPr>
              <a:pPr/>
              <a:t>11</a:t>
            </a:fld>
            <a:endParaRPr lang="ru-RU" dirty="0">
              <a:solidFill>
                <a:schemeClr val="tx1"/>
              </a:solidFill>
            </a:endParaRPr>
          </a:p>
        </p:txBody>
      </p:sp>
      <p:sp>
        <p:nvSpPr>
          <p:cNvPr id="5" name="Заголовок 4">
            <a:extLst>
              <a:ext uri="{FF2B5EF4-FFF2-40B4-BE49-F238E27FC236}">
                <a16:creationId xmlns:a16="http://schemas.microsoft.com/office/drawing/2014/main" id="{067A9869-D318-409C-BBED-79CBA5856B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Заключение</a:t>
            </a:r>
          </a:p>
        </p:txBody>
      </p:sp>
    </p:spTree>
    <p:extLst>
      <p:ext uri="{BB962C8B-B14F-4D97-AF65-F5344CB8AC3E}">
        <p14:creationId xmlns:p14="http://schemas.microsoft.com/office/powerpoint/2010/main" val="2988159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1D0B3C-4330-775A-D8A5-7BDDA7A225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6700" y="190501"/>
            <a:ext cx="11658600" cy="1276349"/>
          </a:xfrm>
        </p:spPr>
        <p:txBody>
          <a:bodyPr>
            <a:norm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741DE144-93D5-2280-8A77-9356B71E174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1905000"/>
            <a:ext cx="9144000" cy="703911"/>
          </a:xfrm>
        </p:spPr>
        <p:txBody>
          <a:bodyPr>
            <a:normAutofit fontScale="92500" lnSpcReduction="10000"/>
          </a:bodyPr>
          <a:lstStyle/>
          <a:p>
            <a:pPr>
              <a:lnSpc>
                <a:spcPct val="100000"/>
              </a:lnSpc>
            </a:pP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Факультет компьютерных наук </a:t>
            </a:r>
            <a:b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dirty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программирования и информационных технологий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12847BE-98AB-59E3-A177-3FA39E069FD2}"/>
              </a:ext>
            </a:extLst>
          </p:cNvPr>
          <p:cNvSpPr txBox="1"/>
          <p:nvPr/>
        </p:nvSpPr>
        <p:spPr>
          <a:xfrm>
            <a:off x="485775" y="3047061"/>
            <a:ext cx="11220450" cy="6132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lnSpc>
                <a:spcPct val="115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ru-RU" sz="32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Разработка приложения для работника автосервиса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1228718-D8F8-BF9A-8013-0211D7649721}"/>
              </a:ext>
            </a:extLst>
          </p:cNvPr>
          <p:cNvSpPr txBox="1"/>
          <p:nvPr/>
        </p:nvSpPr>
        <p:spPr>
          <a:xfrm>
            <a:off x="6838950" y="5225534"/>
            <a:ext cx="508635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Научный руководитель: Ушаков В.А.</a:t>
            </a:r>
          </a:p>
          <a:p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Селютин Р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ru-RU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В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RU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931531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1043</TotalTime>
  <Words>437</Words>
  <Application>Microsoft Office PowerPoint</Application>
  <PresentationFormat>Широкоэкранный</PresentationFormat>
  <Paragraphs>92</Paragraphs>
  <Slides>12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12</vt:i4>
      </vt:variant>
    </vt:vector>
  </HeadingPairs>
  <TitlesOfParts>
    <vt:vector size="17" baseType="lpstr">
      <vt:lpstr>Arial</vt:lpstr>
      <vt:lpstr>Times New Roman</vt:lpstr>
      <vt:lpstr>Calibri Light</vt:lpstr>
      <vt:lpstr>Calibri</vt:lpstr>
      <vt:lpstr>Тема Office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vt:lpstr>
      <vt:lpstr>Актуальность</vt:lpstr>
      <vt:lpstr>Постановка задачи</vt:lpstr>
      <vt:lpstr>Обзор аналогов</vt:lpstr>
      <vt:lpstr>Обзор аналогов</vt:lpstr>
      <vt:lpstr>Средства реализации</vt:lpstr>
      <vt:lpstr>Архитектура приложения</vt:lpstr>
      <vt:lpstr>Архитектура приложения</vt:lpstr>
      <vt:lpstr>Дизайн приложения: аутентификация</vt:lpstr>
      <vt:lpstr>Дизайн приложения: список задач и личный кабинет</vt:lpstr>
      <vt:lpstr>Заключение</vt:lpstr>
      <vt:lpstr>МИНОБРНАУКИ РОССИИ ФЕДЕРАЛЬНОЕ ГОСУДАРСТВЕННОЕ БЮДЖЕТНОЕ ОБРАЗОВАТЕЛЬНОЕ УЧРЕЖДЕНИЕ ВЫСШЕГО ОБРАЗОВАНИЯ «ВОРОНЕЖСКИЙ ГОСУДАРСТВЕННЫЙ УНИВЕРСИТЕТ» (ФГБОУ ВО «ВГУ»)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SAMSUNG IT Academy Kotlin Course</dc:title>
  <dc:creator>Roman Lesovoy</dc:creator>
  <cp:lastModifiedBy>Ратмир Селютин</cp:lastModifiedBy>
  <cp:revision>28</cp:revision>
  <dcterms:created xsi:type="dcterms:W3CDTF">2020-10-18T13:39:56Z</dcterms:created>
  <dcterms:modified xsi:type="dcterms:W3CDTF">2026-06-06T14:23:45Z</dcterms:modified>
</cp:coreProperties>
</file>